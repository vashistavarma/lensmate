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charts/chart1.xml" ContentType="application/vnd.openxmlformats-officedocument.drawingml.chart+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Lst>
  <p:notesMasterIdLst>
    <p:notesMasterId r:id="rId11"/>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Intro" id="{6f225b56-e48d-8968-31cd-5c7babef1bdd}">
          <p14:sldIdLst>
            <p14:sldId id="256"/>
            <p14:sldId id="257"/>
          </p14:sldIdLst>
        </p14:section>
        <p14:section name="Product" id="{fca470ad-a45e-6776-21ba-ba3fd7254cd0}">
          <p14:sldIdLst>
            <p14:sldId id="258"/>
            <p14:sldId id="259"/>
            <p14:sldId id="260"/>
          </p14:sldIdLst>
        </p14:section>
        <p14:section name="Engineering" id="{ad2ce4a0-3691-880c-efad-f11b0977b9a8}">
          <p14:sldIdLst>
            <p14:sldId id="261"/>
            <p14:sldId id="262"/>
          </p14:sldIdLst>
        </p14:section>
        <p14:section name="Wrap-up" id="{cbb6a65d-ceac-22ec-fd24-356ea2684f1d}">
          <p14:sldIdLst>
            <p14:sldId id="263"/>
            <p14:sldId id="264"/>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notesMaster" Target="notesMasters/notesMaster1.xml"/><Relationship Id="rId12" Type="http://schemas.openxmlformats.org/officeDocument/2006/relationships/presProps" Target="presProps.xml"/><Relationship Id="rId13" Type="http://schemas.openxmlformats.org/officeDocument/2006/relationships/viewProps" Target="viewProps.xml"/><Relationship Id="rId14" Type="http://schemas.openxmlformats.org/officeDocument/2006/relationships/theme" Target="theme/theme1.xml"/><Relationship Id="rId15"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600" b="0" i="0" u="none" strike="noStrike">
                <a:solidFill>
                  <a:srgbClr val="E6E9EF"/>
                </a:solidFill>
                <a:latin typeface="+mn-lt"/>
              </a:defRPr>
            </a:pPr>
            <a:r>
              <a:rPr sz="1600" b="0" i="0" u="none" strike="noStrike">
                <a:solidFill>
                  <a:srgbClr val="E6E9EF"/>
                </a:solidFill>
                <a:latin typeface="+mn-lt"/>
              </a:rPr>
              <a:t>Naming niche hardware (real photos)</a:t>
            </a:r>
          </a:p>
        </c:rich>
      </c:tx>
      <c:layout/>
      <c:overlay val="0"/>
    </c:title>
    <c:autoTitleDeleted val="0"/>
    <c:plotArea>
      <c:layout/>
      <c:barChart>
        <c:barDir val="col"/>
        <c:grouping val="clustered"/>
        <c:varyColors val="0"/>
        <c:ser>
          <c:idx val="0"/>
          <c:order val="0"/>
          <c:tx>
            <c:strRef>
              <c:f>Sheet1!$B$1</c:f>
              <c:strCache>
                <c:ptCount val="1"/>
                <c:pt idx="0">
                  <c:v>Correct</c:v>
                </c:pt>
              </c:strCache>
            </c:strRef>
          </c:tx>
          <c:spPr>
            <a:solidFill>
              <a:srgbClr val="8B93A1"/>
            </a:solidFill>
            <a:effectLst/>
          </c:spPr>
          <c:invertIfNegative val="0"/>
          <c:dLbls>
            <c:numFmt formatCode="0&quot;%&quot;" sourceLinked="0"/>
            <c:txPr>
              <a:bodyPr/>
              <a:lstStyle/>
              <a:p>
                <a:pPr>
                  <a:defRPr b="0" i="0" strike="noStrike" sz="1400" u="none">
                    <a:solidFill>
                      <a:srgbClr val="E6E9EF"/>
                    </a:solidFill>
                    <a:latin typeface="+mn-lt"/>
                  </a:defRPr>
                </a:pPr>
              </a:p>
            </c:txPr>
            <c:showLegendKey val="0"/>
            <c:showVal val="1"/>
            <c:showCatName val="0"/>
            <c:showSerName val="0"/>
            <c:showPercent val="0"/>
            <c:showBubbleSize val="0"/>
            <c:showLeaderLines val="0"/>
          </c:dLbls>
          <c:dPt>
            <c:idx val="0"/>
            <c:invertIfNegative val="0"/>
            <c:bubble3D val="0"/>
            <c:spPr>
              <a:solidFill>
                <a:srgbClr val="8B93A1"/>
              </a:solidFill>
              <a:effectLst/>
            </c:spPr>
          </c:dPt>
          <c:dPt>
            <c:idx val="1"/>
            <c:invertIfNegative val="0"/>
            <c:bubble3D val="0"/>
            <c:spPr>
              <a:solidFill>
                <a:srgbClr val="4FD1C5"/>
              </a:solidFill>
              <a:effectLst/>
            </c:spPr>
          </c:dPt>
          <c:dPt>
            <c:idx val="2"/>
            <c:invertIfNegative val="0"/>
            <c:bubble3D val="0"/>
            <c:spPr>
              <a:solidFill>
                <a:srgbClr val="4FD1C5"/>
              </a:solidFill>
              <a:effectLst/>
            </c:spPr>
          </c:dPt>
          <c:cat>
            <c:multiLvlStrRef>
              <c:f>Sheet1!$A$2:$A$4</c:f>
              <c:multiLvlStrCache>
                <c:ptCount val="3"/>
                <c:lvl>
                  <c:pt idx="0">
                    <c:v>Unaided (1/8)</c:v>
                  </c:pt>
                  <c:pt idx="1">
                    <c:v>Taught photo (5/6)</c:v>
                  </c:pt>
                  <c:pt idx="2">
                    <c:v>Taught photo (6/6)</c:v>
                  </c:pt>
                </c:lvl>
              </c:multiLvlStrCache>
            </c:multiLvlStrRef>
          </c:cat>
          <c:val>
            <c:numRef>
              <c:f>Sheet1!$B$2:$B$4</c:f>
              <c:numCache>
                <c:formatCode>General</c:formatCode>
                <c:ptCount val="3"/>
                <c:pt idx="0">
                  <c:v>12.5</c:v>
                </c:pt>
                <c:pt idx="1">
                  <c:v>83.3</c:v>
                </c:pt>
                <c:pt idx="2">
                  <c:v>100</c:v>
                </c:pt>
              </c:numCache>
            </c:numRef>
          </c:val>
        </c:ser>
        <c:dLbls>
          <c:numFmt formatCode="0&quot;%&quot;" sourceLinked="0"/>
          <c:txPr>
            <a:bodyPr/>
            <a:lstStyle/>
            <a:p>
              <a:pPr>
                <a:defRPr b="0" i="0" strike="noStrike" sz="1400" u="none">
                  <a:solidFill>
                    <a:srgbClr val="E6E9EF"/>
                  </a:solidFill>
                  <a:latin typeface="+mn-lt"/>
                </a:defRPr>
              </a:pPr>
            </a:p>
          </c:txPr>
          <c:showLegendKey val="0"/>
          <c:showVal val="1"/>
          <c:showCatName val="0"/>
          <c:showSerName val="0"/>
          <c:showPercent val="0"/>
          <c:showBubbleSize val="0"/>
          <c:showLeaderLines val="0"/>
        </c:dLbls>
        <c:gapWidth val="6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8B93A1"/>
                </a:solidFill>
                <a:latin typeface="+mn-lt"/>
              </a:defRPr>
            </a:pPr>
            <a:endParaRPr lang="en-US"/>
          </a:p>
        </c:txPr>
        <c:crossAx val="2094734552"/>
        <c:crosses val="autoZero"/>
        <c:auto val="1"/>
        <c:lblAlgn val="ctr"/>
        <c:noMultiLvlLbl val="1"/>
      </c:catAx>
      <c:valAx>
        <c:axId val="2094734552"/>
        <c:scaling>
          <c:orientation val="minMax"/>
          <c:max val="100"/>
          <c:min val="0"/>
        </c:scaling>
        <c:delete val="0"/>
        <c:axPos val="l"/>
        <c:majorGridlines>
          <c:spPr>
            <a:ln w="9525" cap="flat">
              <a:solidFill>
                <a:srgbClr val="2D3440"/>
              </a:solidFill>
              <a:prstDash val="solid"/>
              <a:round/>
            </a:ln>
          </c:spPr>
        </c:majorGridlines>
        <c:numFmt formatCode="0&quot;%&quot;"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8B93A1"/>
                </a:solidFill>
                <a:latin typeface="+mn-lt"/>
              </a:defRPr>
            </a:pPr>
            <a:endParaRPr lang="en-US"/>
          </a:p>
        </c:txPr>
        <c:crossAx val="2094734554"/>
        <c:crosses val="autoZero"/>
        <c:crossBetween val="between"/>
        <c:majorUnit val="25"/>
      </c:valAx>
      <c:spPr>
        <a:noFill/>
        <a:ln>
          <a:noFill/>
        </a:ln>
        <a:effectLst/>
      </c:spPr>
    </c:plotArea>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[0:20] Hi, I am presenting LensMate: a mixed-reality chatbot that runs entirely on my laptop. No headset and no cloud API. The orb on the right is the companion you will see in the demo, and the neon box is how it labels objects on the live video.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[1:00] The question: how far can a local vision-language model go as a see-talk-understand assistant, with no headset, no API bill, and a laptop GPU? The pipeline is the standard concept of a mixed-reality chatbot: inputs, a brain, outputs, and an MR layer that anchors things over the live view. Here the webcam is the passthrough. It is a prototype, not spatial mapping, and I will say that plainly.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[1:00] Six things, and I will show most of them live in a moment. See and chat; labels that follow objects; click-to-ask; action description and recording; teaching it new objects by showing them; and offline voice. All of it runs on this laptop.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[about 3:30 of live demo, switch to the browser at http://localhost:3000] Follow docs/DEMO_RUNBOOK.md. 1) Hold Space and ask what it sees. 2) Say "label everything" and move the camera: labels follow. 3) Click a small part. 4) Hold the niche item, ask what it is (it may be wrong: say so), then say "this is a motor driver", move it away and back. 5) Wave and ask "what am I doing?". If anything fails: type the command instead, or play the backup video. Return to the slides afterwards.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[1:00] Architecture in one slide. Inputs on the left: camera, voice, text and clicks, motion, and taught photos. The browser holds the camera view with labels, the 3D companion, action analysis, voice, memory and chat history. A tiny Node server with no dependencies talks to two local models: Qwen2.5-VL through Ollama on the GPU, and faster-whisper on the CPU for offline speech. Frames only leave the browser when you ask something.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[1:30] The most useful part of the project was measuring what broke. One: my boxes were 1.2 times too big because Ollama resizes images before the model sees them. Two: putting reference photos in the prompt made the model claim matches on every unrelated image; a separate yes/no check per photo fixed it. Three: the model cannot follow motion across frames, it called left-to-right motion circular rotation, so I measure motion in code and let the model name the moving thing. Four: a newer model scored 0 of 8 and was six times slower, so I kept the older one. All of this is in docs/DESIGN_NOTES.md.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[1:00] The headline: unaided, the 7B model named my niche hardware, a mecanum wheel and a motor driver, correctly 1 time in 8. With a taught photo, held-out photos were recognised 5 of 6 and 6 of 6 in two runs, with zero false claims across 10 negative tests. Box overlap is 0.96, actions pass 6 of 6 on synthetic clips, and giving Whisper the taught names cut its error from 4 percent to 0. I want to be clear these are small samples, and the action and speech tests used synthetic input.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[0:40] Honest limits: the real-object evidence is eight photos of two objects; a 7B model does not know niche hardware by name, teaching fixes the name but not its knowledge; action recognition is only tested on synthetic clips so far; labels follow translation but not scale. Next: tune the motion thresholds on real webcam clips, recognise gestures from pose keypoints, try a larger or fine-tuned model, and build a WebXR version for a headset.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[0:30] Three takeaways. Measure, do not assume: every real problem showed up in a number. Teaching beats swapping models: one photo fixed what a newer model did not. Use code where the model is blind. The code, the benchmarks and the design notes are on GitHub at vashistavarma slash lensmate. Questions.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
    <p:bg>
      <p:bgPr>
        <a:solidFill>
          <a:srgbClr val="0E1116"/>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731520" y="1737360"/>
            <a:ext cx="6400800" cy="1371600"/>
          </a:xfrm>
          <a:prstGeom prst="rect">
            <a:avLst/>
          </a:prstGeom>
          <a:noFill/>
          <a:ln/>
        </p:spPr>
        <p:txBody>
          <a:bodyPr wrap="square" rtlCol="0"/>
          <a:lstStyle>
            <a:lvl1pPr algn="l" indent="0" marL="0">
              <a:buNone/>
              <a:defRPr lang="en-US" sz="8000" b="1" dirty="0">
                <a:solidFill>
                  <a:schemeClr val="tx1"/>
                </a:solidFill>
              </a:defRPr>
            </a:lvl1pPr>
          </a:lstStyle>
          <a:p>
            <a:pPr algn="l" indent="0" marL="0">
              <a:buNone/>
            </a:pPr>
            <a:endParaRPr lang="en-US" sz="8000" dirty="0"/>
          </a:p>
        </p:txBody>
      </p:sp>
      <p:sp>
        <p:nvSpPr>
          <p:cNvPr id="3" name="Text 0"/>
          <p:cNvSpPr/>
          <p:nvPr>
            <p:ph idx="101" type="body" hasCustomPrompt="1"/>
          </p:nvPr>
        </p:nvSpPr>
        <p:spPr>
          <a:xfrm>
            <a:off x="731520" y="3246120"/>
            <a:ext cx="6035040" cy="1097280"/>
          </a:xfrm>
          <a:prstGeom prst="rect">
            <a:avLst/>
          </a:prstGeom>
          <a:noFill/>
          <a:ln/>
        </p:spPr>
        <p:txBody>
          <a:bodyPr wrap="square" rtlCol="0"/>
          <a:lstStyle>
            <a:lvl1pPr algn="l" indent="0" marL="0">
              <a:buNone/>
              <a:defRPr lang="en-US" sz="2600" dirty="0">
                <a:solidFill>
                  <a:schemeClr val="tx1"/>
                </a:solidFill>
              </a:defRPr>
            </a:lvl1pPr>
          </a:lstStyle>
          <a:p>
            <a:pPr algn="l" indent="0" marL="0">
              <a:buNone/>
            </a:pPr>
            <a:endParaRPr lang="en-US" sz="26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NTENT">
    <p:bg>
      <p:bgPr>
        <a:solidFill>
          <a:srgbClr val="0E1116"/>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1091672" cy="868680"/>
          </a:xfrm>
          <a:prstGeom prst="rect">
            <a:avLst/>
          </a:prstGeom>
          <a:noFill/>
          <a:ln/>
        </p:spPr>
        <p:txBody>
          <a:bodyPr wrap="square" rtlCol="0"/>
          <a:lstStyle>
            <a:lvl1pPr algn="l" indent="0" marL="0">
              <a:buNone/>
              <a:defRPr lang="en-US" sz="3400" b="1" dirty="0">
                <a:solidFill>
                  <a:schemeClr val="tx1"/>
                </a:solidFill>
              </a:defRPr>
            </a:lvl1pPr>
          </a:lstStyle>
          <a:p>
            <a:pPr algn="l" indent="0" marL="0">
              <a:buNone/>
            </a:pPr>
            <a:endParaRPr lang="en-US" sz="3400" dirty="0"/>
          </a:p>
        </p:txBody>
      </p:sp>
      <p:sp>
        <p:nvSpPr>
          <p:cNvPr id="3" name="Text 0"/>
          <p:cNvSpPr txBox="1"/>
          <p:nvPr/>
        </p:nvSpPr>
        <p:spPr>
          <a:xfrm>
            <a:off x="548640" y="6400800"/>
            <a:ext cx="5486400" cy="274320"/>
          </a:xfrm>
          <a:prstGeom prst="rect">
            <a:avLst/>
          </a:prstGeom>
          <a:noFill/>
          <a:ln/>
        </p:spPr>
        <p:txBody>
          <a:bodyPr wrap="square" lIns="0" tIns="0" rIns="0" bIns="0" rtlCol="0" anchor="ctr"/>
          <a:lstStyle/>
          <a:p>
            <a:pPr indent="0" marL="0">
              <a:buNone/>
            </a:pPr>
            <a:r>
              <a:rPr lang="en-US" sz="1000" dirty="0">
                <a:solidFill>
                  <a:schemeClr val="tx2"/>
                </a:solidFill>
              </a:rPr>
              <a:t>LensMate · Introduction to Generative AI</a:t>
            </a:r>
            <a:endParaRPr lang="en-US" sz="1000" dirty="0"/>
          </a:p>
        </p:txBody>
      </p:sp>
      <p:sp>
        <p:nvSpPr>
          <p:cNvPr id="25" name="Slide Number Placeholder 0"/>
          <p:cNvSpPr>
            <a:spLocks noGrp="1"/>
          </p:cNvSpPr>
          <p:nvPr>
            <p:ph type="sldNum" sz="quarter" idx="4294967295"/>
          </p:nvPr>
        </p:nvSpPr>
        <p:spPr>
          <a:xfrm>
            <a:off x="11064240" y="6400800"/>
            <a:ext cx="576072"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8B93A1"/>
                </a:solidFill>
              </a:defRPr>
            </a:lvl1pPr>
          </a:lstStyle>
          <a:p>
            <a:pPr algn="l"/>
            <a:fld id="{F7021451-1387-4CA6-816F-3879F97B5CBC}" type="slidenum">
              <a:rPr b="0" lang="en-US"/>
              <a:t>1003</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DEMO">
    <p:bg>
      <p:bgPr>
        <a:solidFill>
          <a:srgbClr val="0E1116"/>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731520" y="731520"/>
            <a:ext cx="6400800" cy="1188720"/>
          </a:xfrm>
          <a:prstGeom prst="rect">
            <a:avLst/>
          </a:prstGeom>
          <a:noFill/>
          <a:ln/>
        </p:spPr>
        <p:txBody>
          <a:bodyPr wrap="square" rtlCol="0"/>
          <a:lstStyle>
            <a:lvl1pPr algn="l" indent="0" marL="0">
              <a:buNone/>
              <a:defRPr lang="en-US" sz="6400" b="1" dirty="0">
                <a:solidFill>
                  <a:schemeClr val="tx1"/>
                </a:solidFill>
              </a:defRPr>
            </a:lvl1pPr>
          </a:lstStyle>
          <a:p>
            <a:pPr algn="l" indent="0" marL="0">
              <a:buNone/>
            </a:pPr>
            <a:endParaRPr lang="en-US" sz="6400" dirty="0"/>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064240" y="6400800"/>
            <a:ext cx="576072"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8B93A1"/>
                </a:solidFill>
              </a:defRPr>
            </a:lvl1pPr>
          </a:lstStyle>
          <a:p>
            <a:pPr algn="l"/>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image" Target="../media/image-3-3.png"/><Relationship Id="rId4" Type="http://schemas.openxmlformats.org/officeDocument/2006/relationships/image" Target="../media/image-3-4.png"/><Relationship Id="rId5" Type="http://schemas.openxmlformats.org/officeDocument/2006/relationships/image" Target="../media/image-3-5.png"/><Relationship Id="rId6" Type="http://schemas.openxmlformats.org/officeDocument/2006/relationships/image" Target="../media/image-3-6.png"/><Relationship Id="rId7" Type="http://schemas.openxmlformats.org/officeDocument/2006/relationships/slideLayout" Target="../slideLayouts/slideLayout3.xml"/><Relationship Id="rId8"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slideLayout" Target="../slideLayouts/slideLayout3.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image" Target="../media/image-8-2.png"/><Relationship Id="rId3" Type="http://schemas.openxmlformats.org/officeDocument/2006/relationships/slideLayout" Target="../slideLayouts/slideLayout3.xml"/><Relationship Id="rId4"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ph idx="100" type="title" hasCustomPrompt="1"/>
          </p:nvPr>
        </p:nvSpPr>
        <p:spPr>
          <a:xfrm>
            <a:off x="731520" y="1737360"/>
            <a:ext cx="6400800" cy="1371600"/>
          </a:xfrm>
          <a:prstGeom prst="rect">
            <a:avLst/>
          </a:prstGeom>
          <a:noFill/>
          <a:ln/>
        </p:spPr>
        <p:txBody>
          <a:bodyPr wrap="square" lIns="0" tIns="0" rIns="0" bIns="0" rtlCol="0" anchor="ctr"/>
          <a:lstStyle/>
          <a:p>
            <a:pPr algn="l" indent="0" marL="0">
              <a:buNone/>
            </a:pPr>
            <a:r>
              <a:rPr lang="en-US" sz="8000" b="1" dirty="0">
                <a:solidFill>
                  <a:schemeClr val="tx1"/>
                </a:solidFill>
              </a:rPr>
              <a:t>Lens</a:t>
            </a:r>
            <a:pPr algn="l" indent="0" marL="0">
              <a:buNone/>
            </a:pPr>
            <a:r>
              <a:rPr lang="en-US" sz="8000" b="1" dirty="0">
                <a:solidFill>
                  <a:schemeClr val="accent1"/>
                </a:solidFill>
              </a:rPr>
              <a:t>Mate</a:t>
            </a:r>
            <a:endParaRPr lang="en-US" sz="8000" dirty="0"/>
          </a:p>
        </p:txBody>
      </p:sp>
      <p:sp>
        <p:nvSpPr>
          <p:cNvPr id="3" name="Text 0"/>
          <p:cNvSpPr/>
          <p:nvPr>
            <p:ph idx="101" type="body" hasCustomPrompt="1"/>
          </p:nvPr>
        </p:nvSpPr>
        <p:spPr>
          <a:xfrm>
            <a:off x="731520" y="3246120"/>
            <a:ext cx="6035040" cy="1097280"/>
          </a:xfrm>
          <a:prstGeom prst="rect">
            <a:avLst/>
          </a:prstGeom>
          <a:noFill/>
          <a:ln/>
        </p:spPr>
        <p:txBody>
          <a:bodyPr wrap="square" lIns="0" tIns="0" rIns="0" bIns="0" rtlCol="0" anchor="t"/>
          <a:lstStyle/>
          <a:p>
            <a:pPr algn="l" indent="0" marL="0">
              <a:buNone/>
            </a:pPr>
            <a:r>
              <a:rPr lang="en-US" sz="2600" dirty="0">
                <a:solidFill>
                  <a:schemeClr val="tx1"/>
                </a:solidFill>
              </a:rPr>
              <a:t>A mixed-reality chatbot that runs entirely on a laptop</a:t>
            </a:r>
            <a:endParaRPr lang="en-US" sz="2600" dirty="0"/>
          </a:p>
        </p:txBody>
      </p:sp>
      <p:sp>
        <p:nvSpPr>
          <p:cNvPr id="4" name="Course line"/>
          <p:cNvSpPr txBox="1"/>
          <p:nvPr/>
        </p:nvSpPr>
        <p:spPr>
          <a:xfrm>
            <a:off x="731520" y="4572000"/>
            <a:ext cx="6400800" cy="365760"/>
          </a:xfrm>
          <a:prstGeom prst="rect">
            <a:avLst/>
          </a:prstGeom>
          <a:noFill/>
          <a:ln/>
        </p:spPr>
        <p:txBody>
          <a:bodyPr wrap="square" lIns="0" tIns="0" rIns="0" bIns="0" rtlCol="0" anchor="ctr"/>
          <a:lstStyle/>
          <a:p>
            <a:pPr indent="0" marL="0">
              <a:buNone/>
            </a:pPr>
            <a:r>
              <a:rPr lang="en-US" sz="1600" dirty="0">
                <a:solidFill>
                  <a:schemeClr val="tx2"/>
                </a:solidFill>
              </a:rPr>
              <a:t>Introduction to Generative AI · course project</a:t>
            </a:r>
            <a:endParaRPr lang="en-US" sz="1600" dirty="0"/>
          </a:p>
        </p:txBody>
      </p:sp>
      <p:sp>
        <p:nvSpPr>
          <p:cNvPr id="5" name="Orb glow"/>
          <p:cNvSpPr/>
          <p:nvPr/>
        </p:nvSpPr>
        <p:spPr>
          <a:xfrm>
            <a:off x="7452360" y="1463040"/>
            <a:ext cx="3566160" cy="3566160"/>
          </a:xfrm>
          <a:prstGeom prst="ellipse">
            <a:avLst/>
          </a:prstGeom>
          <a:solidFill>
            <a:schemeClr val="accent1">
              <a:alpha val="10000"/>
            </a:schemeClr>
          </a:solidFill>
          <a:ln/>
        </p:spPr>
      </p:sp>
      <p:sp>
        <p:nvSpPr>
          <p:cNvPr id="6" name="Orb body"/>
          <p:cNvSpPr/>
          <p:nvPr/>
        </p:nvSpPr>
        <p:spPr>
          <a:xfrm>
            <a:off x="7863840" y="1874520"/>
            <a:ext cx="2743200" cy="2743200"/>
          </a:xfrm>
          <a:prstGeom prst="ellipse">
            <a:avLst/>
          </a:prstGeom>
          <a:solidFill>
            <a:schemeClr val="accent1">
              <a:alpha val="75000"/>
            </a:schemeClr>
          </a:solidFill>
          <a:ln/>
        </p:spPr>
      </p:sp>
      <p:sp>
        <p:nvSpPr>
          <p:cNvPr id="7" name="Orb ring"/>
          <p:cNvSpPr/>
          <p:nvPr/>
        </p:nvSpPr>
        <p:spPr>
          <a:xfrm rot="20400000">
            <a:off x="7342632" y="2752344"/>
            <a:ext cx="3785616" cy="1097280"/>
          </a:xfrm>
          <a:prstGeom prst="ellipse">
            <a:avLst/>
          </a:prstGeom>
          <a:ln w="38100">
            <a:solidFill>
              <a:schemeClr val="accent1"/>
            </a:solidFill>
            <a:prstDash val="solid"/>
          </a:ln>
        </p:spPr>
      </p:sp>
      <p:sp>
        <p:nvSpPr>
          <p:cNvPr id="8" name="Orb eye"/>
          <p:cNvSpPr/>
          <p:nvPr/>
        </p:nvSpPr>
        <p:spPr>
          <a:xfrm>
            <a:off x="8439912" y="2683764"/>
            <a:ext cx="548640" cy="685800"/>
          </a:xfrm>
          <a:prstGeom prst="ellipse">
            <a:avLst/>
          </a:prstGeom>
          <a:solidFill>
            <a:schemeClr val="tx1"/>
          </a:solidFill>
          <a:ln/>
        </p:spPr>
      </p:sp>
      <p:sp>
        <p:nvSpPr>
          <p:cNvPr id="9" name="Orb pupil"/>
          <p:cNvSpPr/>
          <p:nvPr/>
        </p:nvSpPr>
        <p:spPr>
          <a:xfrm>
            <a:off x="8590788" y="2916936"/>
            <a:ext cx="246888" cy="329184"/>
          </a:xfrm>
          <a:prstGeom prst="ellipse">
            <a:avLst/>
          </a:prstGeom>
          <a:solidFill>
            <a:schemeClr val="bg1"/>
          </a:solidFill>
          <a:ln/>
        </p:spPr>
      </p:sp>
      <p:sp>
        <p:nvSpPr>
          <p:cNvPr id="10" name="Orb eye"/>
          <p:cNvSpPr/>
          <p:nvPr/>
        </p:nvSpPr>
        <p:spPr>
          <a:xfrm>
            <a:off x="9482328" y="2683764"/>
            <a:ext cx="548640" cy="685800"/>
          </a:xfrm>
          <a:prstGeom prst="ellipse">
            <a:avLst/>
          </a:prstGeom>
          <a:solidFill>
            <a:schemeClr val="tx1"/>
          </a:solidFill>
          <a:ln/>
        </p:spPr>
      </p:sp>
      <p:sp>
        <p:nvSpPr>
          <p:cNvPr id="11" name="Orb pupil"/>
          <p:cNvSpPr/>
          <p:nvPr/>
        </p:nvSpPr>
        <p:spPr>
          <a:xfrm>
            <a:off x="9633204" y="2916936"/>
            <a:ext cx="246888" cy="329184"/>
          </a:xfrm>
          <a:prstGeom prst="ellipse">
            <a:avLst/>
          </a:prstGeom>
          <a:solidFill>
            <a:schemeClr val="bg1"/>
          </a:solidFill>
          <a:ln/>
        </p:spPr>
      </p:sp>
      <p:sp>
        <p:nvSpPr>
          <p:cNvPr id="12" name="Orb mouth"/>
          <p:cNvSpPr/>
          <p:nvPr/>
        </p:nvSpPr>
        <p:spPr>
          <a:xfrm>
            <a:off x="8933688" y="3630168"/>
            <a:ext cx="603504" cy="123444"/>
          </a:xfrm>
          <a:prstGeom prst="roundRect">
            <a:avLst>
              <a:gd name="adj" fmla="val 14815"/>
            </a:avLst>
          </a:prstGeom>
          <a:solidFill>
            <a:schemeClr val="bg1"/>
          </a:solidFill>
          <a:ln/>
        </p:spPr>
      </p:sp>
      <p:sp>
        <p:nvSpPr>
          <p:cNvPr id="13" name="Label box"/>
          <p:cNvSpPr/>
          <p:nvPr/>
        </p:nvSpPr>
        <p:spPr>
          <a:xfrm>
            <a:off x="8915400" y="5257800"/>
            <a:ext cx="2651760" cy="960120"/>
          </a:xfrm>
          <a:prstGeom prst="rect">
            <a:avLst/>
          </a:prstGeom>
          <a:ln w="31750">
            <a:solidFill>
              <a:schemeClr val="accent1"/>
            </a:solidFill>
            <a:prstDash val="solid"/>
          </a:ln>
        </p:spPr>
      </p:sp>
      <p:sp>
        <p:nvSpPr>
          <p:cNvPr id="14" name="Object board"/>
          <p:cNvSpPr/>
          <p:nvPr/>
        </p:nvSpPr>
        <p:spPr>
          <a:xfrm>
            <a:off x="9098280" y="5413248"/>
            <a:ext cx="2286000" cy="649224"/>
          </a:xfrm>
          <a:prstGeom prst="roundRect">
            <a:avLst>
              <a:gd name="adj" fmla="val 7042"/>
            </a:avLst>
          </a:prstGeom>
          <a:solidFill>
            <a:schemeClr val="accent4"/>
          </a:solidFill>
          <a:ln/>
        </p:spPr>
      </p:sp>
      <p:sp>
        <p:nvSpPr>
          <p:cNvPr id="15" name="Chip"/>
          <p:cNvSpPr/>
          <p:nvPr/>
        </p:nvSpPr>
        <p:spPr>
          <a:xfrm>
            <a:off x="9372600" y="5543093"/>
            <a:ext cx="548640" cy="259690"/>
          </a:xfrm>
          <a:prstGeom prst="rect">
            <a:avLst/>
          </a:prstGeom>
          <a:solidFill>
            <a:schemeClr val="bg1"/>
          </a:solidFill>
          <a:ln/>
        </p:spPr>
      </p:sp>
      <p:sp>
        <p:nvSpPr>
          <p:cNvPr id="16" name="Chip"/>
          <p:cNvSpPr/>
          <p:nvPr/>
        </p:nvSpPr>
        <p:spPr>
          <a:xfrm>
            <a:off x="10126980" y="5543093"/>
            <a:ext cx="548640" cy="259690"/>
          </a:xfrm>
          <a:prstGeom prst="rect">
            <a:avLst/>
          </a:prstGeom>
          <a:solidFill>
            <a:schemeClr val="bg1"/>
          </a:solidFill>
          <a:ln/>
        </p:spPr>
      </p:sp>
      <p:sp>
        <p:nvSpPr>
          <p:cNvPr id="17" name="Terminal"/>
          <p:cNvSpPr/>
          <p:nvPr/>
        </p:nvSpPr>
        <p:spPr>
          <a:xfrm>
            <a:off x="10675620" y="5608015"/>
            <a:ext cx="137160" cy="259690"/>
          </a:xfrm>
          <a:prstGeom prst="rect">
            <a:avLst/>
          </a:prstGeom>
          <a:solidFill>
            <a:schemeClr val="accent3"/>
          </a:solidFill>
          <a:ln/>
        </p:spPr>
      </p:sp>
      <p:sp>
        <p:nvSpPr>
          <p:cNvPr id="18" name="Terminal"/>
          <p:cNvSpPr/>
          <p:nvPr/>
        </p:nvSpPr>
        <p:spPr>
          <a:xfrm>
            <a:off x="10904220" y="5608015"/>
            <a:ext cx="137160" cy="259690"/>
          </a:xfrm>
          <a:prstGeom prst="rect">
            <a:avLst/>
          </a:prstGeom>
          <a:solidFill>
            <a:schemeClr val="accent3"/>
          </a:solidFill>
          <a:ln/>
        </p:spPr>
      </p:sp>
      <p:sp>
        <p:nvSpPr>
          <p:cNvPr id="19" name="Terminal"/>
          <p:cNvSpPr/>
          <p:nvPr/>
        </p:nvSpPr>
        <p:spPr>
          <a:xfrm>
            <a:off x="11132820" y="5608015"/>
            <a:ext cx="137160" cy="259690"/>
          </a:xfrm>
          <a:prstGeom prst="rect">
            <a:avLst/>
          </a:prstGeom>
          <a:solidFill>
            <a:schemeClr val="accent3"/>
          </a:solidFill>
          <a:ln/>
        </p:spPr>
      </p:sp>
      <p:sp>
        <p:nvSpPr>
          <p:cNvPr id="20" name="Label tag"/>
          <p:cNvSpPr/>
          <p:nvPr/>
        </p:nvSpPr>
        <p:spPr>
          <a:xfrm>
            <a:off x="8915400" y="4965192"/>
            <a:ext cx="1644091" cy="292608"/>
          </a:xfrm>
          <a:prstGeom prst="rect">
            <a:avLst/>
          </a:prstGeom>
          <a:solidFill>
            <a:schemeClr val="accent1"/>
          </a:solidFill>
          <a:ln/>
        </p:spPr>
      </p:sp>
      <p:sp>
        <p:nvSpPr>
          <p:cNvPr id="21" name="Label text"/>
          <p:cNvSpPr txBox="1"/>
          <p:nvPr/>
        </p:nvSpPr>
        <p:spPr>
          <a:xfrm>
            <a:off x="8915400" y="4965192"/>
            <a:ext cx="1644091" cy="292608"/>
          </a:xfrm>
          <a:prstGeom prst="rect">
            <a:avLst/>
          </a:prstGeom>
          <a:noFill/>
          <a:ln/>
        </p:spPr>
        <p:txBody>
          <a:bodyPr wrap="square" lIns="0" tIns="0" rIns="0" bIns="0" rtlCol="0" anchor="ctr"/>
          <a:lstStyle/>
          <a:p>
            <a:pPr algn="ctr" indent="0" marL="0">
              <a:buNone/>
            </a:pPr>
            <a:r>
              <a:rPr lang="en-US" sz="1200" b="1" dirty="0">
                <a:solidFill>
                  <a:schemeClr val="bg1"/>
                </a:solidFill>
              </a:rPr>
              <a:t>motor driver</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1091672" cy="868680"/>
          </a:xfrm>
          <a:prstGeom prst="rect">
            <a:avLst/>
          </a:prstGeom>
          <a:noFill/>
          <a:ln/>
        </p:spPr>
        <p:txBody>
          <a:bodyPr wrap="square" lIns="0" tIns="0" rIns="0" bIns="0" rtlCol="0" anchor="ctr"/>
          <a:lstStyle/>
          <a:p>
            <a:pPr algn="l" indent="0" marL="0">
              <a:buNone/>
            </a:pPr>
            <a:r>
              <a:rPr lang="en-US" sz="3400" b="1" dirty="0">
                <a:solidFill>
                  <a:schemeClr val="tx1"/>
                </a:solidFill>
              </a:rPr>
              <a:t>Can a laptop be a mixed-reality assistant?</a:t>
            </a:r>
            <a:endParaRPr lang="en-US" sz="3400" dirty="0"/>
          </a:p>
        </p:txBody>
      </p:sp>
      <p:sp>
        <p:nvSpPr>
          <p:cNvPr id="3" name="Stat card 1"/>
          <p:cNvSpPr/>
          <p:nvPr/>
        </p:nvSpPr>
        <p:spPr>
          <a:xfrm>
            <a:off x="548640" y="1508760"/>
            <a:ext cx="3547872" cy="1783080"/>
          </a:xfrm>
          <a:prstGeom prst="roundRect">
            <a:avLst>
              <a:gd name="adj" fmla="val 6154"/>
            </a:avLst>
          </a:prstGeom>
          <a:solidFill>
            <a:schemeClr val="bg2"/>
          </a:solidFill>
          <a:ln w="12700">
            <a:solidFill>
              <a:schemeClr val="accent6"/>
            </a:solidFill>
            <a:prstDash val="solid"/>
          </a:ln>
        </p:spPr>
      </p:sp>
      <p:sp>
        <p:nvSpPr>
          <p:cNvPr id="4" name="Stat value 1"/>
          <p:cNvSpPr txBox="1"/>
          <p:nvPr/>
        </p:nvSpPr>
        <p:spPr>
          <a:xfrm>
            <a:off x="822960" y="1645920"/>
            <a:ext cx="3017520" cy="868680"/>
          </a:xfrm>
          <a:prstGeom prst="rect">
            <a:avLst/>
          </a:prstGeom>
          <a:noFill/>
          <a:ln/>
        </p:spPr>
        <p:txBody>
          <a:bodyPr wrap="square" lIns="0" tIns="0" rIns="0" bIns="0" rtlCol="0" anchor="ctr"/>
          <a:lstStyle/>
          <a:p>
            <a:pPr indent="0" marL="0">
              <a:buNone/>
            </a:pPr>
            <a:r>
              <a:rPr lang="en-US" sz="5400" b="1" dirty="0">
                <a:solidFill>
                  <a:schemeClr val="accent1"/>
                </a:solidFill>
              </a:rPr>
              <a:t>0</a:t>
            </a:r>
            <a:endParaRPr lang="en-US" sz="5400" dirty="0"/>
          </a:p>
        </p:txBody>
      </p:sp>
      <p:sp>
        <p:nvSpPr>
          <p:cNvPr id="5" name="Stat label 1"/>
          <p:cNvSpPr txBox="1"/>
          <p:nvPr/>
        </p:nvSpPr>
        <p:spPr>
          <a:xfrm>
            <a:off x="822960" y="2514600"/>
            <a:ext cx="3017520" cy="640080"/>
          </a:xfrm>
          <a:prstGeom prst="rect">
            <a:avLst/>
          </a:prstGeom>
          <a:noFill/>
          <a:ln/>
        </p:spPr>
        <p:txBody>
          <a:bodyPr wrap="square" lIns="0" tIns="0" rIns="0" bIns="0" rtlCol="0" anchor="t"/>
          <a:lstStyle/>
          <a:p>
            <a:pPr indent="0" marL="0">
              <a:buNone/>
            </a:pPr>
            <a:r>
              <a:rPr lang="en-US" sz="1500" dirty="0">
                <a:solidFill>
                  <a:schemeClr val="tx1"/>
                </a:solidFill>
              </a:rPr>
              <a:t>headsets needed: a webcam is the passthrough view</a:t>
            </a:r>
            <a:endParaRPr lang="en-US" sz="1500" dirty="0"/>
          </a:p>
        </p:txBody>
      </p:sp>
      <p:sp>
        <p:nvSpPr>
          <p:cNvPr id="6" name="Stat card 2"/>
          <p:cNvSpPr/>
          <p:nvPr/>
        </p:nvSpPr>
        <p:spPr>
          <a:xfrm>
            <a:off x="4320540" y="1508760"/>
            <a:ext cx="3547872" cy="1783080"/>
          </a:xfrm>
          <a:prstGeom prst="roundRect">
            <a:avLst>
              <a:gd name="adj" fmla="val 6154"/>
            </a:avLst>
          </a:prstGeom>
          <a:solidFill>
            <a:schemeClr val="bg2"/>
          </a:solidFill>
          <a:ln w="12700">
            <a:solidFill>
              <a:schemeClr val="accent6"/>
            </a:solidFill>
            <a:prstDash val="solid"/>
          </a:ln>
        </p:spPr>
      </p:sp>
      <p:sp>
        <p:nvSpPr>
          <p:cNvPr id="7" name="Stat value 2"/>
          <p:cNvSpPr txBox="1"/>
          <p:nvPr/>
        </p:nvSpPr>
        <p:spPr>
          <a:xfrm>
            <a:off x="4594860" y="1645920"/>
            <a:ext cx="3017520" cy="868680"/>
          </a:xfrm>
          <a:prstGeom prst="rect">
            <a:avLst/>
          </a:prstGeom>
          <a:noFill/>
          <a:ln/>
        </p:spPr>
        <p:txBody>
          <a:bodyPr wrap="square" lIns="0" tIns="0" rIns="0" bIns="0" rtlCol="0" anchor="ctr"/>
          <a:lstStyle/>
          <a:p>
            <a:pPr indent="0" marL="0">
              <a:buNone/>
            </a:pPr>
            <a:r>
              <a:rPr lang="en-US" sz="5400" b="1" dirty="0">
                <a:solidFill>
                  <a:schemeClr val="accent1"/>
                </a:solidFill>
              </a:rPr>
              <a:t>$0</a:t>
            </a:r>
            <a:endParaRPr lang="en-US" sz="5400" dirty="0"/>
          </a:p>
        </p:txBody>
      </p:sp>
      <p:sp>
        <p:nvSpPr>
          <p:cNvPr id="8" name="Stat label 2"/>
          <p:cNvSpPr txBox="1"/>
          <p:nvPr/>
        </p:nvSpPr>
        <p:spPr>
          <a:xfrm>
            <a:off x="4594860" y="2514600"/>
            <a:ext cx="3017520" cy="640080"/>
          </a:xfrm>
          <a:prstGeom prst="rect">
            <a:avLst/>
          </a:prstGeom>
          <a:noFill/>
          <a:ln/>
        </p:spPr>
        <p:txBody>
          <a:bodyPr wrap="square" lIns="0" tIns="0" rIns="0" bIns="0" rtlCol="0" anchor="t"/>
          <a:lstStyle/>
          <a:p>
            <a:pPr indent="0" marL="0">
              <a:buNone/>
            </a:pPr>
            <a:r>
              <a:rPr lang="en-US" sz="1500" dirty="0">
                <a:solidFill>
                  <a:schemeClr val="tx1"/>
                </a:solidFill>
              </a:rPr>
              <a:t>API cost: vision runs locally, and speech can too</a:t>
            </a:r>
            <a:endParaRPr lang="en-US" sz="1500" dirty="0"/>
          </a:p>
        </p:txBody>
      </p:sp>
      <p:sp>
        <p:nvSpPr>
          <p:cNvPr id="9" name="Stat card 3"/>
          <p:cNvSpPr/>
          <p:nvPr/>
        </p:nvSpPr>
        <p:spPr>
          <a:xfrm>
            <a:off x="8092440" y="1508760"/>
            <a:ext cx="3547872" cy="1783080"/>
          </a:xfrm>
          <a:prstGeom prst="roundRect">
            <a:avLst>
              <a:gd name="adj" fmla="val 6154"/>
            </a:avLst>
          </a:prstGeom>
          <a:solidFill>
            <a:schemeClr val="bg2"/>
          </a:solidFill>
          <a:ln w="12700">
            <a:solidFill>
              <a:schemeClr val="accent6"/>
            </a:solidFill>
            <a:prstDash val="solid"/>
          </a:ln>
        </p:spPr>
      </p:sp>
      <p:sp>
        <p:nvSpPr>
          <p:cNvPr id="10" name="Stat value 3"/>
          <p:cNvSpPr txBox="1"/>
          <p:nvPr/>
        </p:nvSpPr>
        <p:spPr>
          <a:xfrm>
            <a:off x="8366760" y="1645920"/>
            <a:ext cx="3017520" cy="868680"/>
          </a:xfrm>
          <a:prstGeom prst="rect">
            <a:avLst/>
          </a:prstGeom>
          <a:noFill/>
          <a:ln/>
        </p:spPr>
        <p:txBody>
          <a:bodyPr wrap="square" lIns="0" tIns="0" rIns="0" bIns="0" rtlCol="0" anchor="ctr"/>
          <a:lstStyle/>
          <a:p>
            <a:pPr indent="0" marL="0">
              <a:buNone/>
            </a:pPr>
            <a:r>
              <a:rPr lang="en-US" sz="5400" b="1" dirty="0">
                <a:solidFill>
                  <a:schemeClr val="accent1"/>
                </a:solidFill>
              </a:rPr>
              <a:t>8 GB</a:t>
            </a:r>
            <a:endParaRPr lang="en-US" sz="5400" dirty="0"/>
          </a:p>
        </p:txBody>
      </p:sp>
      <p:sp>
        <p:nvSpPr>
          <p:cNvPr id="11" name="Stat label 3"/>
          <p:cNvSpPr txBox="1"/>
          <p:nvPr/>
        </p:nvSpPr>
        <p:spPr>
          <a:xfrm>
            <a:off x="8366760" y="2514600"/>
            <a:ext cx="3017520" cy="640080"/>
          </a:xfrm>
          <a:prstGeom prst="rect">
            <a:avLst/>
          </a:prstGeom>
          <a:noFill/>
          <a:ln/>
        </p:spPr>
        <p:txBody>
          <a:bodyPr wrap="square" lIns="0" tIns="0" rIns="0" bIns="0" rtlCol="0" anchor="t"/>
          <a:lstStyle/>
          <a:p>
            <a:pPr indent="0" marL="0">
              <a:buNone/>
            </a:pPr>
            <a:r>
              <a:rPr lang="en-US" sz="1500" dirty="0">
                <a:solidFill>
                  <a:schemeClr val="tx1"/>
                </a:solidFill>
              </a:rPr>
              <a:t>of laptop GPU is all the vision model needs</a:t>
            </a:r>
            <a:endParaRPr lang="en-US" sz="1500" dirty="0"/>
          </a:p>
        </p:txBody>
      </p:sp>
      <p:sp>
        <p:nvSpPr>
          <p:cNvPr id="12" name="Flow card 1"/>
          <p:cNvSpPr/>
          <p:nvPr/>
        </p:nvSpPr>
        <p:spPr>
          <a:xfrm>
            <a:off x="548640" y="3657600"/>
            <a:ext cx="2514600" cy="2286000"/>
          </a:xfrm>
          <a:prstGeom prst="roundRect">
            <a:avLst>
              <a:gd name="adj" fmla="val 4800"/>
            </a:avLst>
          </a:prstGeom>
          <a:solidFill>
            <a:schemeClr val="bg2"/>
          </a:solidFill>
          <a:ln w="12700">
            <a:solidFill>
              <a:schemeClr val="accent6"/>
            </a:solidFill>
            <a:prstDash val="solid"/>
          </a:ln>
        </p:spPr>
      </p:sp>
      <p:sp>
        <p:nvSpPr>
          <p:cNvPr id="13" name="Step badge 1"/>
          <p:cNvSpPr/>
          <p:nvPr/>
        </p:nvSpPr>
        <p:spPr>
          <a:xfrm>
            <a:off x="804672" y="3886200"/>
            <a:ext cx="457200" cy="457200"/>
          </a:xfrm>
          <a:prstGeom prst="ellipse">
            <a:avLst/>
          </a:prstGeom>
          <a:solidFill>
            <a:schemeClr val="accent1"/>
          </a:solidFill>
          <a:ln/>
        </p:spPr>
      </p:sp>
      <p:sp>
        <p:nvSpPr>
          <p:cNvPr id="14" name="Step number 1"/>
          <p:cNvSpPr txBox="1"/>
          <p:nvPr/>
        </p:nvSpPr>
        <p:spPr>
          <a:xfrm>
            <a:off x="804672" y="3886200"/>
            <a:ext cx="457200" cy="457200"/>
          </a:xfrm>
          <a:prstGeom prst="rect">
            <a:avLst/>
          </a:prstGeom>
          <a:noFill/>
          <a:ln/>
        </p:spPr>
        <p:txBody>
          <a:bodyPr wrap="square" lIns="0" tIns="0" rIns="0" bIns="0" rtlCol="0" anchor="ctr"/>
          <a:lstStyle/>
          <a:p>
            <a:pPr algn="ctr" indent="0" marL="0">
              <a:buNone/>
            </a:pPr>
            <a:r>
              <a:rPr lang="en-US" sz="1600" b="1" dirty="0">
                <a:solidFill>
                  <a:schemeClr val="bg1"/>
                </a:solidFill>
              </a:rPr>
              <a:t>1</a:t>
            </a:r>
            <a:endParaRPr lang="en-US" sz="1600" dirty="0"/>
          </a:p>
        </p:txBody>
      </p:sp>
      <p:sp>
        <p:nvSpPr>
          <p:cNvPr id="15" name="Step title 1"/>
          <p:cNvSpPr txBox="1"/>
          <p:nvPr/>
        </p:nvSpPr>
        <p:spPr>
          <a:xfrm>
            <a:off x="804672" y="4480560"/>
            <a:ext cx="2011680" cy="411480"/>
          </a:xfrm>
          <a:prstGeom prst="rect">
            <a:avLst/>
          </a:prstGeom>
          <a:noFill/>
          <a:ln/>
        </p:spPr>
        <p:txBody>
          <a:bodyPr wrap="square" lIns="0" tIns="0" rIns="0" bIns="0" rtlCol="0" anchor="ctr"/>
          <a:lstStyle/>
          <a:p>
            <a:pPr indent="0" marL="0">
              <a:buNone/>
            </a:pPr>
            <a:r>
              <a:rPr lang="en-US" sz="2000" b="1" dirty="0">
                <a:solidFill>
                  <a:schemeClr val="tx1"/>
                </a:solidFill>
              </a:rPr>
              <a:t>Inputs</a:t>
            </a:r>
            <a:endParaRPr lang="en-US" sz="2000" dirty="0"/>
          </a:p>
        </p:txBody>
      </p:sp>
      <p:sp>
        <p:nvSpPr>
          <p:cNvPr id="16" name="Step text 1"/>
          <p:cNvSpPr txBox="1"/>
          <p:nvPr/>
        </p:nvSpPr>
        <p:spPr>
          <a:xfrm>
            <a:off x="804672" y="4937760"/>
            <a:ext cx="2057400" cy="868680"/>
          </a:xfrm>
          <a:prstGeom prst="rect">
            <a:avLst/>
          </a:prstGeom>
          <a:noFill/>
          <a:ln/>
        </p:spPr>
        <p:txBody>
          <a:bodyPr wrap="square" lIns="0" tIns="0" rIns="0" bIns="0" rtlCol="0" anchor="t"/>
          <a:lstStyle/>
          <a:p>
            <a:pPr indent="0" marL="0">
              <a:buNone/>
            </a:pPr>
            <a:r>
              <a:rPr lang="en-US" sz="1400" dirty="0">
                <a:solidFill>
                  <a:schemeClr val="tx2"/>
                </a:solidFill>
              </a:rPr>
              <a:t>Camera, voice, text, clicks and motion</a:t>
            </a:r>
            <a:endParaRPr lang="en-US" sz="1400" dirty="0"/>
          </a:p>
        </p:txBody>
      </p:sp>
      <p:sp>
        <p:nvSpPr>
          <p:cNvPr id="17" name="Arrow 1"/>
          <p:cNvSpPr txBox="1"/>
          <p:nvPr/>
        </p:nvSpPr>
        <p:spPr>
          <a:xfrm>
            <a:off x="3063240" y="4572000"/>
            <a:ext cx="338328" cy="548640"/>
          </a:xfrm>
          <a:prstGeom prst="rect">
            <a:avLst/>
          </a:prstGeom>
          <a:noFill/>
          <a:ln/>
        </p:spPr>
        <p:txBody>
          <a:bodyPr wrap="square" lIns="0" tIns="0" rIns="0" bIns="0" rtlCol="0" anchor="ctr"/>
          <a:lstStyle/>
          <a:p>
            <a:pPr algn="ctr" indent="0" marL="0">
              <a:buNone/>
            </a:pPr>
            <a:r>
              <a:rPr lang="en-US" sz="2800" dirty="0">
                <a:solidFill>
                  <a:schemeClr val="accent1"/>
                </a:solidFill>
              </a:rPr>
              <a:t>›</a:t>
            </a:r>
            <a:endParaRPr lang="en-US" sz="2800" dirty="0"/>
          </a:p>
        </p:txBody>
      </p:sp>
      <p:sp>
        <p:nvSpPr>
          <p:cNvPr id="18" name="Flow card 2"/>
          <p:cNvSpPr/>
          <p:nvPr/>
        </p:nvSpPr>
        <p:spPr>
          <a:xfrm>
            <a:off x="3401568" y="3657600"/>
            <a:ext cx="2514600" cy="2286000"/>
          </a:xfrm>
          <a:prstGeom prst="roundRect">
            <a:avLst>
              <a:gd name="adj" fmla="val 4800"/>
            </a:avLst>
          </a:prstGeom>
          <a:solidFill>
            <a:schemeClr val="bg2"/>
          </a:solidFill>
          <a:ln w="12700">
            <a:solidFill>
              <a:schemeClr val="accent6"/>
            </a:solidFill>
            <a:prstDash val="solid"/>
          </a:ln>
        </p:spPr>
      </p:sp>
      <p:sp>
        <p:nvSpPr>
          <p:cNvPr id="19" name="Step badge 2"/>
          <p:cNvSpPr/>
          <p:nvPr/>
        </p:nvSpPr>
        <p:spPr>
          <a:xfrm>
            <a:off x="3657600" y="3886200"/>
            <a:ext cx="457200" cy="457200"/>
          </a:xfrm>
          <a:prstGeom prst="ellipse">
            <a:avLst/>
          </a:prstGeom>
          <a:solidFill>
            <a:schemeClr val="accent1"/>
          </a:solidFill>
          <a:ln/>
        </p:spPr>
      </p:sp>
      <p:sp>
        <p:nvSpPr>
          <p:cNvPr id="20" name="Step number 2"/>
          <p:cNvSpPr txBox="1"/>
          <p:nvPr/>
        </p:nvSpPr>
        <p:spPr>
          <a:xfrm>
            <a:off x="3657600" y="3886200"/>
            <a:ext cx="457200" cy="457200"/>
          </a:xfrm>
          <a:prstGeom prst="rect">
            <a:avLst/>
          </a:prstGeom>
          <a:noFill/>
          <a:ln/>
        </p:spPr>
        <p:txBody>
          <a:bodyPr wrap="square" lIns="0" tIns="0" rIns="0" bIns="0" rtlCol="0" anchor="ctr"/>
          <a:lstStyle/>
          <a:p>
            <a:pPr algn="ctr" indent="0" marL="0">
              <a:buNone/>
            </a:pPr>
            <a:r>
              <a:rPr lang="en-US" sz="1600" b="1" dirty="0">
                <a:solidFill>
                  <a:schemeClr val="bg1"/>
                </a:solidFill>
              </a:rPr>
              <a:t>2</a:t>
            </a:r>
            <a:endParaRPr lang="en-US" sz="1600" dirty="0"/>
          </a:p>
        </p:txBody>
      </p:sp>
      <p:sp>
        <p:nvSpPr>
          <p:cNvPr id="21" name="Step title 2"/>
          <p:cNvSpPr txBox="1"/>
          <p:nvPr/>
        </p:nvSpPr>
        <p:spPr>
          <a:xfrm>
            <a:off x="3657600" y="4480560"/>
            <a:ext cx="2011680" cy="411480"/>
          </a:xfrm>
          <a:prstGeom prst="rect">
            <a:avLst/>
          </a:prstGeom>
          <a:noFill/>
          <a:ln/>
        </p:spPr>
        <p:txBody>
          <a:bodyPr wrap="square" lIns="0" tIns="0" rIns="0" bIns="0" rtlCol="0" anchor="ctr"/>
          <a:lstStyle/>
          <a:p>
            <a:pPr indent="0" marL="0">
              <a:buNone/>
            </a:pPr>
            <a:r>
              <a:rPr lang="en-US" sz="2000" b="1" dirty="0">
                <a:solidFill>
                  <a:schemeClr val="tx1"/>
                </a:solidFill>
              </a:rPr>
              <a:t>Brain</a:t>
            </a:r>
            <a:endParaRPr lang="en-US" sz="2000" dirty="0"/>
          </a:p>
        </p:txBody>
      </p:sp>
      <p:sp>
        <p:nvSpPr>
          <p:cNvPr id="22" name="Step text 2"/>
          <p:cNvSpPr txBox="1"/>
          <p:nvPr/>
        </p:nvSpPr>
        <p:spPr>
          <a:xfrm>
            <a:off x="3657600" y="4937760"/>
            <a:ext cx="2057400" cy="868680"/>
          </a:xfrm>
          <a:prstGeom prst="rect">
            <a:avLst/>
          </a:prstGeom>
          <a:noFill/>
          <a:ln/>
        </p:spPr>
        <p:txBody>
          <a:bodyPr wrap="square" lIns="0" tIns="0" rIns="0" bIns="0" rtlCol="0" anchor="t"/>
          <a:lstStyle/>
          <a:p>
            <a:pPr indent="0" marL="0">
              <a:buNone/>
            </a:pPr>
            <a:r>
              <a:rPr lang="en-US" sz="1400" dirty="0">
                <a:solidFill>
                  <a:schemeClr val="tx2"/>
                </a:solidFill>
              </a:rPr>
              <a:t>A local vision-language model (Qwen2.5-VL 7B)</a:t>
            </a:r>
            <a:endParaRPr lang="en-US" sz="1400" dirty="0"/>
          </a:p>
        </p:txBody>
      </p:sp>
      <p:sp>
        <p:nvSpPr>
          <p:cNvPr id="23" name="Arrow 2"/>
          <p:cNvSpPr txBox="1"/>
          <p:nvPr/>
        </p:nvSpPr>
        <p:spPr>
          <a:xfrm>
            <a:off x="5916168" y="4572000"/>
            <a:ext cx="338328" cy="548640"/>
          </a:xfrm>
          <a:prstGeom prst="rect">
            <a:avLst/>
          </a:prstGeom>
          <a:noFill/>
          <a:ln/>
        </p:spPr>
        <p:txBody>
          <a:bodyPr wrap="square" lIns="0" tIns="0" rIns="0" bIns="0" rtlCol="0" anchor="ctr"/>
          <a:lstStyle/>
          <a:p>
            <a:pPr algn="ctr" indent="0" marL="0">
              <a:buNone/>
            </a:pPr>
            <a:r>
              <a:rPr lang="en-US" sz="2800" dirty="0">
                <a:solidFill>
                  <a:schemeClr val="accent1"/>
                </a:solidFill>
              </a:rPr>
              <a:t>›</a:t>
            </a:r>
            <a:endParaRPr lang="en-US" sz="2800" dirty="0"/>
          </a:p>
        </p:txBody>
      </p:sp>
      <p:sp>
        <p:nvSpPr>
          <p:cNvPr id="24" name="Flow card 3"/>
          <p:cNvSpPr/>
          <p:nvPr/>
        </p:nvSpPr>
        <p:spPr>
          <a:xfrm>
            <a:off x="6254496" y="3657600"/>
            <a:ext cx="2514600" cy="2286000"/>
          </a:xfrm>
          <a:prstGeom prst="roundRect">
            <a:avLst>
              <a:gd name="adj" fmla="val 4800"/>
            </a:avLst>
          </a:prstGeom>
          <a:solidFill>
            <a:schemeClr val="bg2"/>
          </a:solidFill>
          <a:ln w="12700">
            <a:solidFill>
              <a:schemeClr val="accent6"/>
            </a:solidFill>
            <a:prstDash val="solid"/>
          </a:ln>
        </p:spPr>
      </p:sp>
      <p:sp>
        <p:nvSpPr>
          <p:cNvPr id="25" name="Step badge 3"/>
          <p:cNvSpPr/>
          <p:nvPr/>
        </p:nvSpPr>
        <p:spPr>
          <a:xfrm>
            <a:off x="6510528" y="3886200"/>
            <a:ext cx="457200" cy="457200"/>
          </a:xfrm>
          <a:prstGeom prst="ellipse">
            <a:avLst/>
          </a:prstGeom>
          <a:solidFill>
            <a:schemeClr val="accent1"/>
          </a:solidFill>
          <a:ln/>
        </p:spPr>
      </p:sp>
      <p:sp>
        <p:nvSpPr>
          <p:cNvPr id="26" name="Step number 3"/>
          <p:cNvSpPr txBox="1"/>
          <p:nvPr/>
        </p:nvSpPr>
        <p:spPr>
          <a:xfrm>
            <a:off x="6510528" y="3886200"/>
            <a:ext cx="457200" cy="457200"/>
          </a:xfrm>
          <a:prstGeom prst="rect">
            <a:avLst/>
          </a:prstGeom>
          <a:noFill/>
          <a:ln/>
        </p:spPr>
        <p:txBody>
          <a:bodyPr wrap="square" lIns="0" tIns="0" rIns="0" bIns="0" rtlCol="0" anchor="ctr"/>
          <a:lstStyle/>
          <a:p>
            <a:pPr algn="ctr" indent="0" marL="0">
              <a:buNone/>
            </a:pPr>
            <a:r>
              <a:rPr lang="en-US" sz="1600" b="1" dirty="0">
                <a:solidFill>
                  <a:schemeClr val="bg1"/>
                </a:solidFill>
              </a:rPr>
              <a:t>3</a:t>
            </a:r>
            <a:endParaRPr lang="en-US" sz="1600" dirty="0"/>
          </a:p>
        </p:txBody>
      </p:sp>
      <p:sp>
        <p:nvSpPr>
          <p:cNvPr id="27" name="Step title 3"/>
          <p:cNvSpPr txBox="1"/>
          <p:nvPr/>
        </p:nvSpPr>
        <p:spPr>
          <a:xfrm>
            <a:off x="6510528" y="4480560"/>
            <a:ext cx="2011680" cy="411480"/>
          </a:xfrm>
          <a:prstGeom prst="rect">
            <a:avLst/>
          </a:prstGeom>
          <a:noFill/>
          <a:ln/>
        </p:spPr>
        <p:txBody>
          <a:bodyPr wrap="square" lIns="0" tIns="0" rIns="0" bIns="0" rtlCol="0" anchor="ctr"/>
          <a:lstStyle/>
          <a:p>
            <a:pPr indent="0" marL="0">
              <a:buNone/>
            </a:pPr>
            <a:r>
              <a:rPr lang="en-US" sz="2000" b="1" dirty="0">
                <a:solidFill>
                  <a:schemeClr val="tx1"/>
                </a:solidFill>
              </a:rPr>
              <a:t>Outputs</a:t>
            </a:r>
            <a:endParaRPr lang="en-US" sz="2000" dirty="0"/>
          </a:p>
        </p:txBody>
      </p:sp>
      <p:sp>
        <p:nvSpPr>
          <p:cNvPr id="28" name="Step text 3"/>
          <p:cNvSpPr txBox="1"/>
          <p:nvPr/>
        </p:nvSpPr>
        <p:spPr>
          <a:xfrm>
            <a:off x="6510528" y="4937760"/>
            <a:ext cx="2057400" cy="868680"/>
          </a:xfrm>
          <a:prstGeom prst="rect">
            <a:avLst/>
          </a:prstGeom>
          <a:noFill/>
          <a:ln/>
        </p:spPr>
        <p:txBody>
          <a:bodyPr wrap="square" lIns="0" tIns="0" rIns="0" bIns="0" rtlCol="0" anchor="t"/>
          <a:lstStyle/>
          <a:p>
            <a:pPr indent="0" marL="0">
              <a:buNone/>
            </a:pPr>
            <a:r>
              <a:rPr lang="en-US" sz="1400" dirty="0">
                <a:solidFill>
                  <a:schemeClr val="tx2"/>
                </a:solidFill>
              </a:rPr>
              <a:t>Streamed text, spoken replies, labels on the video</a:t>
            </a:r>
            <a:endParaRPr lang="en-US" sz="1400" dirty="0"/>
          </a:p>
        </p:txBody>
      </p:sp>
      <p:sp>
        <p:nvSpPr>
          <p:cNvPr id="29" name="Arrow 3"/>
          <p:cNvSpPr txBox="1"/>
          <p:nvPr/>
        </p:nvSpPr>
        <p:spPr>
          <a:xfrm>
            <a:off x="8769096" y="4572000"/>
            <a:ext cx="338328" cy="548640"/>
          </a:xfrm>
          <a:prstGeom prst="rect">
            <a:avLst/>
          </a:prstGeom>
          <a:noFill/>
          <a:ln/>
        </p:spPr>
        <p:txBody>
          <a:bodyPr wrap="square" lIns="0" tIns="0" rIns="0" bIns="0" rtlCol="0" anchor="ctr"/>
          <a:lstStyle/>
          <a:p>
            <a:pPr algn="ctr" indent="0" marL="0">
              <a:buNone/>
            </a:pPr>
            <a:r>
              <a:rPr lang="en-US" sz="2800" dirty="0">
                <a:solidFill>
                  <a:schemeClr val="accent1"/>
                </a:solidFill>
              </a:rPr>
              <a:t>›</a:t>
            </a:r>
            <a:endParaRPr lang="en-US" sz="2800" dirty="0"/>
          </a:p>
        </p:txBody>
      </p:sp>
      <p:sp>
        <p:nvSpPr>
          <p:cNvPr id="30" name="Flow card 4"/>
          <p:cNvSpPr/>
          <p:nvPr/>
        </p:nvSpPr>
        <p:spPr>
          <a:xfrm>
            <a:off x="9107424" y="3657600"/>
            <a:ext cx="2514600" cy="2286000"/>
          </a:xfrm>
          <a:prstGeom prst="roundRect">
            <a:avLst>
              <a:gd name="adj" fmla="val 4800"/>
            </a:avLst>
          </a:prstGeom>
          <a:solidFill>
            <a:schemeClr val="bg2"/>
          </a:solidFill>
          <a:ln w="12700">
            <a:solidFill>
              <a:schemeClr val="accent6"/>
            </a:solidFill>
            <a:prstDash val="solid"/>
          </a:ln>
        </p:spPr>
      </p:sp>
      <p:sp>
        <p:nvSpPr>
          <p:cNvPr id="31" name="Step badge 4"/>
          <p:cNvSpPr/>
          <p:nvPr/>
        </p:nvSpPr>
        <p:spPr>
          <a:xfrm>
            <a:off x="9363456" y="3886200"/>
            <a:ext cx="457200" cy="457200"/>
          </a:xfrm>
          <a:prstGeom prst="ellipse">
            <a:avLst/>
          </a:prstGeom>
          <a:solidFill>
            <a:schemeClr val="accent1"/>
          </a:solidFill>
          <a:ln/>
        </p:spPr>
      </p:sp>
      <p:sp>
        <p:nvSpPr>
          <p:cNvPr id="32" name="Step number 4"/>
          <p:cNvSpPr txBox="1"/>
          <p:nvPr/>
        </p:nvSpPr>
        <p:spPr>
          <a:xfrm>
            <a:off x="9363456" y="3886200"/>
            <a:ext cx="457200" cy="457200"/>
          </a:xfrm>
          <a:prstGeom prst="rect">
            <a:avLst/>
          </a:prstGeom>
          <a:noFill/>
          <a:ln/>
        </p:spPr>
        <p:txBody>
          <a:bodyPr wrap="square" lIns="0" tIns="0" rIns="0" bIns="0" rtlCol="0" anchor="ctr"/>
          <a:lstStyle/>
          <a:p>
            <a:pPr algn="ctr" indent="0" marL="0">
              <a:buNone/>
            </a:pPr>
            <a:r>
              <a:rPr lang="en-US" sz="1600" b="1" dirty="0">
                <a:solidFill>
                  <a:schemeClr val="bg1"/>
                </a:solidFill>
              </a:rPr>
              <a:t>4</a:t>
            </a:r>
            <a:endParaRPr lang="en-US" sz="1600" dirty="0"/>
          </a:p>
        </p:txBody>
      </p:sp>
      <p:sp>
        <p:nvSpPr>
          <p:cNvPr id="33" name="Step title 4"/>
          <p:cNvSpPr txBox="1"/>
          <p:nvPr/>
        </p:nvSpPr>
        <p:spPr>
          <a:xfrm>
            <a:off x="9363456" y="4480560"/>
            <a:ext cx="2011680" cy="411480"/>
          </a:xfrm>
          <a:prstGeom prst="rect">
            <a:avLst/>
          </a:prstGeom>
          <a:noFill/>
          <a:ln/>
        </p:spPr>
        <p:txBody>
          <a:bodyPr wrap="square" lIns="0" tIns="0" rIns="0" bIns="0" rtlCol="0" anchor="ctr"/>
          <a:lstStyle/>
          <a:p>
            <a:pPr indent="0" marL="0">
              <a:buNone/>
            </a:pPr>
            <a:r>
              <a:rPr lang="en-US" sz="2000" b="1" dirty="0">
                <a:solidFill>
                  <a:schemeClr val="tx1"/>
                </a:solidFill>
              </a:rPr>
              <a:t>MR layer</a:t>
            </a:r>
            <a:endParaRPr lang="en-US" sz="2000" dirty="0"/>
          </a:p>
        </p:txBody>
      </p:sp>
      <p:sp>
        <p:nvSpPr>
          <p:cNvPr id="34" name="Step text 4"/>
          <p:cNvSpPr txBox="1"/>
          <p:nvPr/>
        </p:nvSpPr>
        <p:spPr>
          <a:xfrm>
            <a:off x="9363456" y="4937760"/>
            <a:ext cx="2057400" cy="868680"/>
          </a:xfrm>
          <a:prstGeom prst="rect">
            <a:avLst/>
          </a:prstGeom>
          <a:noFill/>
          <a:ln/>
        </p:spPr>
        <p:txBody>
          <a:bodyPr wrap="square" lIns="0" tIns="0" rIns="0" bIns="0" rtlCol="0" anchor="t"/>
          <a:lstStyle/>
          <a:p>
            <a:pPr indent="0" marL="0">
              <a:buNone/>
            </a:pPr>
            <a:r>
              <a:rPr lang="en-US" sz="1400" dirty="0">
                <a:solidFill>
                  <a:schemeClr val="tx2"/>
                </a:solidFill>
              </a:rPr>
              <a:t>A 3D companion and labels anchored on the live view</a:t>
            </a:r>
            <a:endParaRPr lang="en-US" sz="1400" dirty="0"/>
          </a:p>
        </p:txBody>
      </p:sp>
      <p:sp>
        <p:nvSpPr>
          <p:cNvPr id="25" name="Slide Number Placeholder 0"/>
          <p:cNvSpPr>
            <a:spLocks noGrp="1"/>
          </p:cNvSpPr>
          <p:nvPr>
            <p:ph type="sldNum" sz="quarter" idx="4294967295"/>
          </p:nvPr>
        </p:nvSpPr>
        <p:spPr>
          <a:xfrm>
            <a:off x="11064240" y="6400800"/>
            <a:ext cx="576072"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8B93A1"/>
                </a:solidFill>
              </a:defRPr>
            </a:lvl1pPr>
          </a:lstStyle>
          <a:p>
            <a:pPr algn="l"/>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1091672" cy="868680"/>
          </a:xfrm>
          <a:prstGeom prst="rect">
            <a:avLst/>
          </a:prstGeom>
          <a:noFill/>
          <a:ln/>
        </p:spPr>
        <p:txBody>
          <a:bodyPr wrap="square" lIns="0" tIns="0" rIns="0" bIns="0" rtlCol="0" anchor="ctr"/>
          <a:lstStyle/>
          <a:p>
            <a:pPr algn="l" indent="0" marL="0">
              <a:buNone/>
            </a:pPr>
            <a:r>
              <a:rPr lang="en-US" sz="3400" b="1" dirty="0">
                <a:solidFill>
                  <a:schemeClr val="tx1"/>
                </a:solidFill>
              </a:rPr>
              <a:t>What LensMate does</a:t>
            </a:r>
            <a:endParaRPr lang="en-US" sz="3400" dirty="0"/>
          </a:p>
        </p:txBody>
      </p:sp>
      <p:sp>
        <p:nvSpPr>
          <p:cNvPr id="3" name="Feature card 1"/>
          <p:cNvSpPr/>
          <p:nvPr/>
        </p:nvSpPr>
        <p:spPr>
          <a:xfrm>
            <a:off x="548640" y="1463040"/>
            <a:ext cx="3566160" cy="2148840"/>
          </a:xfrm>
          <a:prstGeom prst="roundRect">
            <a:avLst>
              <a:gd name="adj" fmla="val 5106"/>
            </a:avLst>
          </a:prstGeom>
          <a:solidFill>
            <a:schemeClr val="bg2"/>
          </a:solidFill>
          <a:ln w="12700">
            <a:solidFill>
              <a:schemeClr val="accent6"/>
            </a:solidFill>
            <a:prstDash val="solid"/>
          </a:ln>
        </p:spPr>
      </p:sp>
      <p:sp>
        <p:nvSpPr>
          <p:cNvPr id="4" name="Icon disc 1"/>
          <p:cNvSpPr/>
          <p:nvPr/>
        </p:nvSpPr>
        <p:spPr>
          <a:xfrm>
            <a:off x="822960" y="1737360"/>
            <a:ext cx="603504" cy="603504"/>
          </a:xfrm>
          <a:prstGeom prst="ellipse">
            <a:avLst/>
          </a:prstGeom>
          <a:solidFill>
            <a:schemeClr val="accent1"/>
          </a:solidFill>
          <a:ln/>
        </p:spPr>
      </p:sp>
      <p:pic>
        <p:nvPicPr>
          <p:cNvPr id="5" name="Image 0" descr="See and chat icon">    </p:cNvPr>
          <p:cNvPicPr>
            <a:picLocks noChangeAspect="1"/>
          </p:cNvPicPr>
          <p:nvPr/>
        </p:nvPicPr>
        <p:blipFill>
          <a:blip r:embed="rId1"/>
          <a:stretch>
            <a:fillRect/>
          </a:stretch>
        </p:blipFill>
        <p:spPr>
          <a:xfrm>
            <a:off x="969264" y="1883664"/>
            <a:ext cx="310896" cy="310896"/>
          </a:xfrm>
          <a:prstGeom prst="rect">
            <a:avLst/>
          </a:prstGeom>
        </p:spPr>
      </p:pic>
      <p:sp>
        <p:nvSpPr>
          <p:cNvPr id="6" name="Feature title 1"/>
          <p:cNvSpPr txBox="1"/>
          <p:nvPr/>
        </p:nvSpPr>
        <p:spPr>
          <a:xfrm>
            <a:off x="1554480" y="1737360"/>
            <a:ext cx="2377440" cy="603504"/>
          </a:xfrm>
          <a:prstGeom prst="rect">
            <a:avLst/>
          </a:prstGeom>
          <a:noFill/>
          <a:ln/>
        </p:spPr>
        <p:txBody>
          <a:bodyPr wrap="square" lIns="0" tIns="0" rIns="0" bIns="0" rtlCol="0" anchor="ctr"/>
          <a:lstStyle/>
          <a:p>
            <a:pPr indent="0" marL="0">
              <a:buNone/>
            </a:pPr>
            <a:r>
              <a:rPr lang="en-US" sz="2000" b="1" dirty="0">
                <a:solidFill>
                  <a:schemeClr val="tx1"/>
                </a:solidFill>
              </a:rPr>
              <a:t>See and chat</a:t>
            </a:r>
            <a:endParaRPr lang="en-US" sz="2000" dirty="0"/>
          </a:p>
        </p:txBody>
      </p:sp>
      <p:sp>
        <p:nvSpPr>
          <p:cNvPr id="7" name="Feature text 1"/>
          <p:cNvSpPr txBox="1"/>
          <p:nvPr/>
        </p:nvSpPr>
        <p:spPr>
          <a:xfrm>
            <a:off x="822960" y="2514600"/>
            <a:ext cx="3063240" cy="914400"/>
          </a:xfrm>
          <a:prstGeom prst="rect">
            <a:avLst/>
          </a:prstGeom>
          <a:noFill/>
          <a:ln/>
        </p:spPr>
        <p:txBody>
          <a:bodyPr wrap="square" lIns="0" tIns="0" rIns="0" bIns="0" rtlCol="0" anchor="t"/>
          <a:lstStyle/>
          <a:p>
            <a:pPr indent="0" marL="0">
              <a:buNone/>
            </a:pPr>
            <a:r>
              <a:rPr lang="en-US" sz="1500" dirty="0">
                <a:solidFill>
                  <a:schemeClr val="tx2"/>
                </a:solidFill>
              </a:rPr>
              <a:t>Ask about the camera view; answers stream in and are spoken.</a:t>
            </a:r>
            <a:endParaRPr lang="en-US" sz="1500" dirty="0"/>
          </a:p>
        </p:txBody>
      </p:sp>
      <p:sp>
        <p:nvSpPr>
          <p:cNvPr id="8" name="Feature card 2"/>
          <p:cNvSpPr/>
          <p:nvPr/>
        </p:nvSpPr>
        <p:spPr>
          <a:xfrm>
            <a:off x="4315968" y="1463040"/>
            <a:ext cx="3566160" cy="2148840"/>
          </a:xfrm>
          <a:prstGeom prst="roundRect">
            <a:avLst>
              <a:gd name="adj" fmla="val 5106"/>
            </a:avLst>
          </a:prstGeom>
          <a:solidFill>
            <a:schemeClr val="bg2"/>
          </a:solidFill>
          <a:ln w="12700">
            <a:solidFill>
              <a:schemeClr val="accent6"/>
            </a:solidFill>
            <a:prstDash val="solid"/>
          </a:ln>
        </p:spPr>
      </p:sp>
      <p:sp>
        <p:nvSpPr>
          <p:cNvPr id="9" name="Icon disc 2"/>
          <p:cNvSpPr/>
          <p:nvPr/>
        </p:nvSpPr>
        <p:spPr>
          <a:xfrm>
            <a:off x="4590288" y="1737360"/>
            <a:ext cx="603504" cy="603504"/>
          </a:xfrm>
          <a:prstGeom prst="ellipse">
            <a:avLst/>
          </a:prstGeom>
          <a:solidFill>
            <a:schemeClr val="accent1"/>
          </a:solidFill>
          <a:ln/>
        </p:spPr>
      </p:sp>
      <p:pic>
        <p:nvPicPr>
          <p:cNvPr id="10" name="Image 1" descr="Labels that follow icon">    </p:cNvPr>
          <p:cNvPicPr>
            <a:picLocks noChangeAspect="1"/>
          </p:cNvPicPr>
          <p:nvPr/>
        </p:nvPicPr>
        <p:blipFill>
          <a:blip r:embed="rId2"/>
          <a:stretch>
            <a:fillRect/>
          </a:stretch>
        </p:blipFill>
        <p:spPr>
          <a:xfrm>
            <a:off x="4736592" y="1883664"/>
            <a:ext cx="310896" cy="310896"/>
          </a:xfrm>
          <a:prstGeom prst="rect">
            <a:avLst/>
          </a:prstGeom>
        </p:spPr>
      </p:pic>
      <p:sp>
        <p:nvSpPr>
          <p:cNvPr id="11" name="Feature title 2"/>
          <p:cNvSpPr txBox="1"/>
          <p:nvPr/>
        </p:nvSpPr>
        <p:spPr>
          <a:xfrm>
            <a:off x="5321808" y="1737360"/>
            <a:ext cx="2377440" cy="603504"/>
          </a:xfrm>
          <a:prstGeom prst="rect">
            <a:avLst/>
          </a:prstGeom>
          <a:noFill/>
          <a:ln/>
        </p:spPr>
        <p:txBody>
          <a:bodyPr wrap="square" lIns="0" tIns="0" rIns="0" bIns="0" rtlCol="0" anchor="ctr"/>
          <a:lstStyle/>
          <a:p>
            <a:pPr indent="0" marL="0">
              <a:buNone/>
            </a:pPr>
            <a:r>
              <a:rPr lang="en-US" sz="2000" b="1" dirty="0">
                <a:solidFill>
                  <a:schemeClr val="tx1"/>
                </a:solidFill>
              </a:rPr>
              <a:t>Labels that follow</a:t>
            </a:r>
            <a:endParaRPr lang="en-US" sz="2000" dirty="0"/>
          </a:p>
        </p:txBody>
      </p:sp>
      <p:sp>
        <p:nvSpPr>
          <p:cNvPr id="12" name="Feature text 2"/>
          <p:cNvSpPr txBox="1"/>
          <p:nvPr/>
        </p:nvSpPr>
        <p:spPr>
          <a:xfrm>
            <a:off x="4590288" y="2514600"/>
            <a:ext cx="3063240" cy="914400"/>
          </a:xfrm>
          <a:prstGeom prst="rect">
            <a:avLst/>
          </a:prstGeom>
          <a:noFill/>
          <a:ln/>
        </p:spPr>
        <p:txBody>
          <a:bodyPr wrap="square" lIns="0" tIns="0" rIns="0" bIns="0" rtlCol="0" anchor="t"/>
          <a:lstStyle/>
          <a:p>
            <a:pPr indent="0" marL="0">
              <a:buNone/>
            </a:pPr>
            <a:r>
              <a:rPr lang="en-US" sz="1500" dirty="0">
                <a:solidFill>
                  <a:schemeClr val="tx2"/>
                </a:solidFill>
              </a:rPr>
              <a:t>Say "label everything": boxes track objects as you move.</a:t>
            </a:r>
            <a:endParaRPr lang="en-US" sz="1500" dirty="0"/>
          </a:p>
        </p:txBody>
      </p:sp>
      <p:sp>
        <p:nvSpPr>
          <p:cNvPr id="13" name="Feature card 3"/>
          <p:cNvSpPr/>
          <p:nvPr/>
        </p:nvSpPr>
        <p:spPr>
          <a:xfrm>
            <a:off x="8083296" y="1463040"/>
            <a:ext cx="3566160" cy="2148840"/>
          </a:xfrm>
          <a:prstGeom prst="roundRect">
            <a:avLst>
              <a:gd name="adj" fmla="val 5106"/>
            </a:avLst>
          </a:prstGeom>
          <a:solidFill>
            <a:schemeClr val="bg2"/>
          </a:solidFill>
          <a:ln w="12700">
            <a:solidFill>
              <a:schemeClr val="accent6"/>
            </a:solidFill>
            <a:prstDash val="solid"/>
          </a:ln>
        </p:spPr>
      </p:sp>
      <p:sp>
        <p:nvSpPr>
          <p:cNvPr id="14" name="Icon disc 3"/>
          <p:cNvSpPr/>
          <p:nvPr/>
        </p:nvSpPr>
        <p:spPr>
          <a:xfrm>
            <a:off x="8357616" y="1737360"/>
            <a:ext cx="603504" cy="603504"/>
          </a:xfrm>
          <a:prstGeom prst="ellipse">
            <a:avLst/>
          </a:prstGeom>
          <a:solidFill>
            <a:schemeClr val="accent1"/>
          </a:solidFill>
          <a:ln/>
        </p:spPr>
      </p:sp>
      <p:pic>
        <p:nvPicPr>
          <p:cNvPr id="15" name="Image 2" descr="Click to ask icon">    </p:cNvPr>
          <p:cNvPicPr>
            <a:picLocks noChangeAspect="1"/>
          </p:cNvPicPr>
          <p:nvPr/>
        </p:nvPicPr>
        <p:blipFill>
          <a:blip r:embed="rId3"/>
          <a:stretch>
            <a:fillRect/>
          </a:stretch>
        </p:blipFill>
        <p:spPr>
          <a:xfrm>
            <a:off x="8503920" y="1883664"/>
            <a:ext cx="310896" cy="310896"/>
          </a:xfrm>
          <a:prstGeom prst="rect">
            <a:avLst/>
          </a:prstGeom>
        </p:spPr>
      </p:pic>
      <p:sp>
        <p:nvSpPr>
          <p:cNvPr id="16" name="Feature title 3"/>
          <p:cNvSpPr txBox="1"/>
          <p:nvPr/>
        </p:nvSpPr>
        <p:spPr>
          <a:xfrm>
            <a:off x="9089136" y="1737360"/>
            <a:ext cx="2377440" cy="603504"/>
          </a:xfrm>
          <a:prstGeom prst="rect">
            <a:avLst/>
          </a:prstGeom>
          <a:noFill/>
          <a:ln/>
        </p:spPr>
        <p:txBody>
          <a:bodyPr wrap="square" lIns="0" tIns="0" rIns="0" bIns="0" rtlCol="0" anchor="ctr"/>
          <a:lstStyle/>
          <a:p>
            <a:pPr indent="0" marL="0">
              <a:buNone/>
            </a:pPr>
            <a:r>
              <a:rPr lang="en-US" sz="2000" b="1" dirty="0">
                <a:solidFill>
                  <a:schemeClr val="tx1"/>
                </a:solidFill>
              </a:rPr>
              <a:t>Click to ask</a:t>
            </a:r>
            <a:endParaRPr lang="en-US" sz="2000" dirty="0"/>
          </a:p>
        </p:txBody>
      </p:sp>
      <p:sp>
        <p:nvSpPr>
          <p:cNvPr id="17" name="Feature text 3"/>
          <p:cNvSpPr txBox="1"/>
          <p:nvPr/>
        </p:nvSpPr>
        <p:spPr>
          <a:xfrm>
            <a:off x="8357616" y="2514600"/>
            <a:ext cx="3063240" cy="914400"/>
          </a:xfrm>
          <a:prstGeom prst="rect">
            <a:avLst/>
          </a:prstGeom>
          <a:noFill/>
          <a:ln/>
        </p:spPr>
        <p:txBody>
          <a:bodyPr wrap="square" lIns="0" tIns="0" rIns="0" bIns="0" rtlCol="0" anchor="t"/>
          <a:lstStyle/>
          <a:p>
            <a:pPr indent="0" marL="0">
              <a:buNone/>
            </a:pPr>
            <a:r>
              <a:rPr lang="en-US" sz="1500" dirty="0">
                <a:solidFill>
                  <a:schemeClr val="tx2"/>
                </a:solidFill>
              </a:rPr>
              <a:t>Click a part to zoom in at full camera resolution.</a:t>
            </a:r>
            <a:endParaRPr lang="en-US" sz="1500" dirty="0"/>
          </a:p>
        </p:txBody>
      </p:sp>
      <p:sp>
        <p:nvSpPr>
          <p:cNvPr id="18" name="Feature card 4"/>
          <p:cNvSpPr/>
          <p:nvPr/>
        </p:nvSpPr>
        <p:spPr>
          <a:xfrm>
            <a:off x="548640" y="3840480"/>
            <a:ext cx="3566160" cy="2148840"/>
          </a:xfrm>
          <a:prstGeom prst="roundRect">
            <a:avLst>
              <a:gd name="adj" fmla="val 5106"/>
            </a:avLst>
          </a:prstGeom>
          <a:solidFill>
            <a:schemeClr val="bg2"/>
          </a:solidFill>
          <a:ln w="12700">
            <a:solidFill>
              <a:schemeClr val="accent6"/>
            </a:solidFill>
            <a:prstDash val="solid"/>
          </a:ln>
        </p:spPr>
      </p:sp>
      <p:sp>
        <p:nvSpPr>
          <p:cNvPr id="19" name="Icon disc 4"/>
          <p:cNvSpPr/>
          <p:nvPr/>
        </p:nvSpPr>
        <p:spPr>
          <a:xfrm>
            <a:off x="822960" y="4114800"/>
            <a:ext cx="603504" cy="603504"/>
          </a:xfrm>
          <a:prstGeom prst="ellipse">
            <a:avLst/>
          </a:prstGeom>
          <a:solidFill>
            <a:schemeClr val="accent1"/>
          </a:solidFill>
          <a:ln/>
        </p:spPr>
      </p:sp>
      <p:pic>
        <p:nvPicPr>
          <p:cNvPr id="20" name="Image 3" descr="Actions icon">    </p:cNvPr>
          <p:cNvPicPr>
            <a:picLocks noChangeAspect="1"/>
          </p:cNvPicPr>
          <p:nvPr/>
        </p:nvPicPr>
        <p:blipFill>
          <a:blip r:embed="rId4"/>
          <a:stretch>
            <a:fillRect/>
          </a:stretch>
        </p:blipFill>
        <p:spPr>
          <a:xfrm>
            <a:off x="969264" y="4261104"/>
            <a:ext cx="310896" cy="310896"/>
          </a:xfrm>
          <a:prstGeom prst="rect">
            <a:avLst/>
          </a:prstGeom>
        </p:spPr>
      </p:pic>
      <p:sp>
        <p:nvSpPr>
          <p:cNvPr id="21" name="Feature title 4"/>
          <p:cNvSpPr txBox="1"/>
          <p:nvPr/>
        </p:nvSpPr>
        <p:spPr>
          <a:xfrm>
            <a:off x="1554480" y="4114800"/>
            <a:ext cx="2377440" cy="603504"/>
          </a:xfrm>
          <a:prstGeom prst="rect">
            <a:avLst/>
          </a:prstGeom>
          <a:noFill/>
          <a:ln/>
        </p:spPr>
        <p:txBody>
          <a:bodyPr wrap="square" lIns="0" tIns="0" rIns="0" bIns="0" rtlCol="0" anchor="ctr"/>
          <a:lstStyle/>
          <a:p>
            <a:pPr indent="0" marL="0">
              <a:buNone/>
            </a:pPr>
            <a:r>
              <a:rPr lang="en-US" sz="2000" b="1" dirty="0">
                <a:solidFill>
                  <a:schemeClr val="tx1"/>
                </a:solidFill>
              </a:rPr>
              <a:t>Actions</a:t>
            </a:r>
            <a:endParaRPr lang="en-US" sz="2000" dirty="0"/>
          </a:p>
        </p:txBody>
      </p:sp>
      <p:sp>
        <p:nvSpPr>
          <p:cNvPr id="22" name="Feature text 4"/>
          <p:cNvSpPr txBox="1"/>
          <p:nvPr/>
        </p:nvSpPr>
        <p:spPr>
          <a:xfrm>
            <a:off x="822960" y="4892040"/>
            <a:ext cx="3063240" cy="914400"/>
          </a:xfrm>
          <a:prstGeom prst="rect">
            <a:avLst/>
          </a:prstGeom>
          <a:noFill/>
          <a:ln/>
        </p:spPr>
        <p:txBody>
          <a:bodyPr wrap="square" lIns="0" tIns="0" rIns="0" bIns="0" rtlCol="0" anchor="t"/>
          <a:lstStyle/>
          <a:p>
            <a:pPr indent="0" marL="0">
              <a:buNone/>
            </a:pPr>
            <a:r>
              <a:rPr lang="en-US" sz="1500" dirty="0">
                <a:solidFill>
                  <a:schemeClr val="tx2"/>
                </a:solidFill>
              </a:rPr>
              <a:t>"What am I doing?" or "record 5 s": motion is measured in code.</a:t>
            </a:r>
            <a:endParaRPr lang="en-US" sz="1500" dirty="0"/>
          </a:p>
        </p:txBody>
      </p:sp>
      <p:sp>
        <p:nvSpPr>
          <p:cNvPr id="23" name="Feature card 5"/>
          <p:cNvSpPr/>
          <p:nvPr/>
        </p:nvSpPr>
        <p:spPr>
          <a:xfrm>
            <a:off x="4315968" y="3840480"/>
            <a:ext cx="3566160" cy="2148840"/>
          </a:xfrm>
          <a:prstGeom prst="roundRect">
            <a:avLst>
              <a:gd name="adj" fmla="val 5106"/>
            </a:avLst>
          </a:prstGeom>
          <a:solidFill>
            <a:schemeClr val="bg2"/>
          </a:solidFill>
          <a:ln w="12700">
            <a:solidFill>
              <a:schemeClr val="accent6"/>
            </a:solidFill>
            <a:prstDash val="solid"/>
          </a:ln>
        </p:spPr>
      </p:sp>
      <p:sp>
        <p:nvSpPr>
          <p:cNvPr id="24" name="Icon disc 5"/>
          <p:cNvSpPr/>
          <p:nvPr/>
        </p:nvSpPr>
        <p:spPr>
          <a:xfrm>
            <a:off x="4590288" y="4114800"/>
            <a:ext cx="603504" cy="603504"/>
          </a:xfrm>
          <a:prstGeom prst="ellipse">
            <a:avLst/>
          </a:prstGeom>
          <a:solidFill>
            <a:schemeClr val="accent1"/>
          </a:solidFill>
          <a:ln/>
        </p:spPr>
      </p:sp>
      <p:pic>
        <p:nvPicPr>
          <p:cNvPr id="25" name="Image 4" descr="Teach by showing icon">    </p:cNvPr>
          <p:cNvPicPr>
            <a:picLocks noChangeAspect="1"/>
          </p:cNvPicPr>
          <p:nvPr/>
        </p:nvPicPr>
        <p:blipFill>
          <a:blip r:embed="rId5"/>
          <a:stretch>
            <a:fillRect/>
          </a:stretch>
        </p:blipFill>
        <p:spPr>
          <a:xfrm>
            <a:off x="4736592" y="4261104"/>
            <a:ext cx="310896" cy="310896"/>
          </a:xfrm>
          <a:prstGeom prst="rect">
            <a:avLst/>
          </a:prstGeom>
        </p:spPr>
      </p:pic>
      <p:sp>
        <p:nvSpPr>
          <p:cNvPr id="26" name="Feature title 5"/>
          <p:cNvSpPr txBox="1"/>
          <p:nvPr/>
        </p:nvSpPr>
        <p:spPr>
          <a:xfrm>
            <a:off x="5321808" y="4114800"/>
            <a:ext cx="2377440" cy="603504"/>
          </a:xfrm>
          <a:prstGeom prst="rect">
            <a:avLst/>
          </a:prstGeom>
          <a:noFill/>
          <a:ln/>
        </p:spPr>
        <p:txBody>
          <a:bodyPr wrap="square" lIns="0" tIns="0" rIns="0" bIns="0" rtlCol="0" anchor="ctr"/>
          <a:lstStyle/>
          <a:p>
            <a:pPr indent="0" marL="0">
              <a:buNone/>
            </a:pPr>
            <a:r>
              <a:rPr lang="en-US" sz="2000" b="1" dirty="0">
                <a:solidFill>
                  <a:schemeClr val="tx1"/>
                </a:solidFill>
              </a:rPr>
              <a:t>Teach by showing</a:t>
            </a:r>
            <a:endParaRPr lang="en-US" sz="2000" dirty="0"/>
          </a:p>
        </p:txBody>
      </p:sp>
      <p:sp>
        <p:nvSpPr>
          <p:cNvPr id="27" name="Feature text 5"/>
          <p:cNvSpPr txBox="1"/>
          <p:nvPr/>
        </p:nvSpPr>
        <p:spPr>
          <a:xfrm>
            <a:off x="4590288" y="4892040"/>
            <a:ext cx="3063240" cy="914400"/>
          </a:xfrm>
          <a:prstGeom prst="rect">
            <a:avLst/>
          </a:prstGeom>
          <a:noFill/>
          <a:ln/>
        </p:spPr>
        <p:txBody>
          <a:bodyPr wrap="square" lIns="0" tIns="0" rIns="0" bIns="0" rtlCol="0" anchor="t"/>
          <a:lstStyle/>
          <a:p>
            <a:pPr indent="0" marL="0">
              <a:buNone/>
            </a:pPr>
            <a:r>
              <a:rPr lang="en-US" sz="1500" dirty="0">
                <a:solidFill>
                  <a:schemeClr val="tx2"/>
                </a:solidFill>
              </a:rPr>
              <a:t>Show an object once; next time it recognises it from the photo.</a:t>
            </a:r>
            <a:endParaRPr lang="en-US" sz="1500" dirty="0"/>
          </a:p>
        </p:txBody>
      </p:sp>
      <p:sp>
        <p:nvSpPr>
          <p:cNvPr id="28" name="Feature card 6"/>
          <p:cNvSpPr/>
          <p:nvPr/>
        </p:nvSpPr>
        <p:spPr>
          <a:xfrm>
            <a:off x="8083296" y="3840480"/>
            <a:ext cx="3566160" cy="2148840"/>
          </a:xfrm>
          <a:prstGeom prst="roundRect">
            <a:avLst>
              <a:gd name="adj" fmla="val 5106"/>
            </a:avLst>
          </a:prstGeom>
          <a:solidFill>
            <a:schemeClr val="bg2"/>
          </a:solidFill>
          <a:ln w="12700">
            <a:solidFill>
              <a:schemeClr val="accent6"/>
            </a:solidFill>
            <a:prstDash val="solid"/>
          </a:ln>
        </p:spPr>
      </p:sp>
      <p:sp>
        <p:nvSpPr>
          <p:cNvPr id="29" name="Icon disc 6"/>
          <p:cNvSpPr/>
          <p:nvPr/>
        </p:nvSpPr>
        <p:spPr>
          <a:xfrm>
            <a:off x="8357616" y="4114800"/>
            <a:ext cx="603504" cy="603504"/>
          </a:xfrm>
          <a:prstGeom prst="ellipse">
            <a:avLst/>
          </a:prstGeom>
          <a:solidFill>
            <a:schemeClr val="accent1"/>
          </a:solidFill>
          <a:ln/>
        </p:spPr>
      </p:sp>
      <p:pic>
        <p:nvPicPr>
          <p:cNvPr id="30" name="Image 5" descr="Offline voice icon">    </p:cNvPr>
          <p:cNvPicPr>
            <a:picLocks noChangeAspect="1"/>
          </p:cNvPicPr>
          <p:nvPr/>
        </p:nvPicPr>
        <p:blipFill>
          <a:blip r:embed="rId6"/>
          <a:stretch>
            <a:fillRect/>
          </a:stretch>
        </p:blipFill>
        <p:spPr>
          <a:xfrm>
            <a:off x="8503920" y="4261104"/>
            <a:ext cx="310896" cy="310896"/>
          </a:xfrm>
          <a:prstGeom prst="rect">
            <a:avLst/>
          </a:prstGeom>
        </p:spPr>
      </p:pic>
      <p:sp>
        <p:nvSpPr>
          <p:cNvPr id="31" name="Feature title 6"/>
          <p:cNvSpPr txBox="1"/>
          <p:nvPr/>
        </p:nvSpPr>
        <p:spPr>
          <a:xfrm>
            <a:off x="9089136" y="4114800"/>
            <a:ext cx="2377440" cy="603504"/>
          </a:xfrm>
          <a:prstGeom prst="rect">
            <a:avLst/>
          </a:prstGeom>
          <a:noFill/>
          <a:ln/>
        </p:spPr>
        <p:txBody>
          <a:bodyPr wrap="square" lIns="0" tIns="0" rIns="0" bIns="0" rtlCol="0" anchor="ctr"/>
          <a:lstStyle/>
          <a:p>
            <a:pPr indent="0" marL="0">
              <a:buNone/>
            </a:pPr>
            <a:r>
              <a:rPr lang="en-US" sz="2000" b="1" dirty="0">
                <a:solidFill>
                  <a:schemeClr val="tx1"/>
                </a:solidFill>
              </a:rPr>
              <a:t>Offline voice</a:t>
            </a:r>
            <a:endParaRPr lang="en-US" sz="2000" dirty="0"/>
          </a:p>
        </p:txBody>
      </p:sp>
      <p:sp>
        <p:nvSpPr>
          <p:cNvPr id="32" name="Feature text 6"/>
          <p:cNvSpPr txBox="1"/>
          <p:nvPr/>
        </p:nvSpPr>
        <p:spPr>
          <a:xfrm>
            <a:off x="8357616" y="4892040"/>
            <a:ext cx="3063240" cy="914400"/>
          </a:xfrm>
          <a:prstGeom prst="rect">
            <a:avLst/>
          </a:prstGeom>
          <a:noFill/>
          <a:ln/>
        </p:spPr>
        <p:txBody>
          <a:bodyPr wrap="square" lIns="0" tIns="0" rIns="0" bIns="0" rtlCol="0" anchor="t"/>
          <a:lstStyle/>
          <a:p>
            <a:pPr indent="0" marL="0">
              <a:buNone/>
            </a:pPr>
            <a:r>
              <a:rPr lang="en-US" sz="1500" dirty="0">
                <a:solidFill>
                  <a:schemeClr val="tx2"/>
                </a:solidFill>
              </a:rPr>
              <a:t>Whisper on the CPU: 0.8 s per command, no cloud.</a:t>
            </a:r>
            <a:endParaRPr lang="en-US" sz="1500" dirty="0"/>
          </a:p>
        </p:txBody>
      </p:sp>
      <p:sp>
        <p:nvSpPr>
          <p:cNvPr id="25" name="Slide Number Placeholder 0"/>
          <p:cNvSpPr>
            <a:spLocks noGrp="1"/>
          </p:cNvSpPr>
          <p:nvPr>
            <p:ph type="sldNum" sz="quarter" idx="4294967295"/>
          </p:nvPr>
        </p:nvSpPr>
        <p:spPr>
          <a:xfrm>
            <a:off x="11064240" y="6400800"/>
            <a:ext cx="576072"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8B93A1"/>
                </a:solidFill>
              </a:defRPr>
            </a:lvl1pPr>
          </a:lstStyle>
          <a:p>
            <a:pPr algn="l"/>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ph idx="100" type="title" hasCustomPrompt="1"/>
          </p:nvPr>
        </p:nvSpPr>
        <p:spPr>
          <a:xfrm>
            <a:off x="731520" y="731520"/>
            <a:ext cx="6400800" cy="1188720"/>
          </a:xfrm>
          <a:prstGeom prst="rect">
            <a:avLst/>
          </a:prstGeom>
          <a:noFill/>
          <a:ln/>
        </p:spPr>
        <p:txBody>
          <a:bodyPr wrap="square" lIns="0" tIns="0" rIns="0" bIns="0" rtlCol="0" anchor="ctr"/>
          <a:lstStyle/>
          <a:p>
            <a:pPr algn="l" indent="0" marL="0">
              <a:buNone/>
            </a:pPr>
            <a:r>
              <a:rPr lang="en-US" sz="6400" b="1" dirty="0">
                <a:solidFill>
                  <a:schemeClr val="tx1"/>
                </a:solidFill>
              </a:rPr>
              <a:t>Live demo</a:t>
            </a:r>
            <a:endParaRPr lang="en-US" sz="6400" dirty="0"/>
          </a:p>
        </p:txBody>
      </p:sp>
      <p:sp>
        <p:nvSpPr>
          <p:cNvPr id="3" name="Live dot"/>
          <p:cNvSpPr/>
          <p:nvPr/>
        </p:nvSpPr>
        <p:spPr>
          <a:xfrm>
            <a:off x="731520" y="2103120"/>
            <a:ext cx="201168" cy="201168"/>
          </a:xfrm>
          <a:prstGeom prst="ellipse">
            <a:avLst/>
          </a:prstGeom>
          <a:solidFill>
            <a:schemeClr val="accent5"/>
          </a:solidFill>
          <a:ln/>
        </p:spPr>
      </p:sp>
      <p:sp>
        <p:nvSpPr>
          <p:cNvPr id="4" name="Live caption"/>
          <p:cNvSpPr txBox="1"/>
          <p:nvPr/>
        </p:nvSpPr>
        <p:spPr>
          <a:xfrm>
            <a:off x="1051560" y="2011680"/>
            <a:ext cx="4572000" cy="384048"/>
          </a:xfrm>
          <a:prstGeom prst="rect">
            <a:avLst/>
          </a:prstGeom>
          <a:noFill/>
          <a:ln/>
        </p:spPr>
        <p:txBody>
          <a:bodyPr wrap="square" lIns="0" tIns="0" rIns="0" bIns="0" rtlCol="0" anchor="ctr"/>
          <a:lstStyle/>
          <a:p>
            <a:pPr indent="0" marL="0">
              <a:buNone/>
            </a:pPr>
            <a:r>
              <a:rPr lang="en-US" sz="1800" dirty="0">
                <a:solidFill>
                  <a:schemeClr val="tx2"/>
                </a:solidFill>
              </a:rPr>
              <a:t>On this laptop, right now</a:t>
            </a:r>
            <a:endParaRPr lang="en-US" sz="1800" dirty="0"/>
          </a:p>
        </p:txBody>
      </p:sp>
      <p:sp>
        <p:nvSpPr>
          <p:cNvPr id="5" name="Demo badge 1"/>
          <p:cNvSpPr/>
          <p:nvPr/>
        </p:nvSpPr>
        <p:spPr>
          <a:xfrm>
            <a:off x="731520" y="2779776"/>
            <a:ext cx="457200" cy="457200"/>
          </a:xfrm>
          <a:prstGeom prst="ellipse">
            <a:avLst/>
          </a:prstGeom>
          <a:solidFill>
            <a:schemeClr val="bg2"/>
          </a:solidFill>
          <a:ln w="19050">
            <a:solidFill>
              <a:schemeClr val="accent1"/>
            </a:solidFill>
            <a:prstDash val="solid"/>
          </a:ln>
        </p:spPr>
      </p:sp>
      <p:sp>
        <p:nvSpPr>
          <p:cNvPr id="6" name="Demo number 1"/>
          <p:cNvSpPr txBox="1"/>
          <p:nvPr/>
        </p:nvSpPr>
        <p:spPr>
          <a:xfrm>
            <a:off x="731520" y="2779776"/>
            <a:ext cx="457200" cy="457200"/>
          </a:xfrm>
          <a:prstGeom prst="rect">
            <a:avLst/>
          </a:prstGeom>
          <a:noFill/>
          <a:ln/>
        </p:spPr>
        <p:txBody>
          <a:bodyPr wrap="square" lIns="0" tIns="0" rIns="0" bIns="0" rtlCol="0" anchor="ctr"/>
          <a:lstStyle/>
          <a:p>
            <a:pPr algn="ctr" indent="0" marL="0">
              <a:buNone/>
            </a:pPr>
            <a:r>
              <a:rPr lang="en-US" sz="1600" b="1" dirty="0">
                <a:solidFill>
                  <a:schemeClr val="accent1"/>
                </a:solidFill>
              </a:rPr>
              <a:t>1</a:t>
            </a:r>
            <a:endParaRPr lang="en-US" sz="1600" dirty="0"/>
          </a:p>
        </p:txBody>
      </p:sp>
      <p:sp>
        <p:nvSpPr>
          <p:cNvPr id="7" name="Demo step 1"/>
          <p:cNvSpPr txBox="1"/>
          <p:nvPr/>
        </p:nvSpPr>
        <p:spPr>
          <a:xfrm>
            <a:off x="1417320" y="2743200"/>
            <a:ext cx="5852160" cy="530352"/>
          </a:xfrm>
          <a:prstGeom prst="rect">
            <a:avLst/>
          </a:prstGeom>
          <a:noFill/>
          <a:ln/>
        </p:spPr>
        <p:txBody>
          <a:bodyPr wrap="square" lIns="0" tIns="0" rIns="0" bIns="0" rtlCol="0" anchor="ctr"/>
          <a:lstStyle/>
          <a:p>
            <a:pPr indent="0" marL="0">
              <a:buNone/>
            </a:pPr>
            <a:r>
              <a:rPr lang="en-US" sz="2200" dirty="0">
                <a:solidFill>
                  <a:schemeClr val="tx1"/>
                </a:solidFill>
              </a:rPr>
              <a:t>Talk to it: "What do you see?"</a:t>
            </a:r>
            <a:endParaRPr lang="en-US" sz="2200" dirty="0"/>
          </a:p>
        </p:txBody>
      </p:sp>
      <p:sp>
        <p:nvSpPr>
          <p:cNvPr id="8" name="Demo badge 2"/>
          <p:cNvSpPr/>
          <p:nvPr/>
        </p:nvSpPr>
        <p:spPr>
          <a:xfrm>
            <a:off x="731520" y="3493008"/>
            <a:ext cx="457200" cy="457200"/>
          </a:xfrm>
          <a:prstGeom prst="ellipse">
            <a:avLst/>
          </a:prstGeom>
          <a:solidFill>
            <a:schemeClr val="bg2"/>
          </a:solidFill>
          <a:ln w="19050">
            <a:solidFill>
              <a:schemeClr val="accent1"/>
            </a:solidFill>
            <a:prstDash val="solid"/>
          </a:ln>
        </p:spPr>
      </p:sp>
      <p:sp>
        <p:nvSpPr>
          <p:cNvPr id="9" name="Demo number 2"/>
          <p:cNvSpPr txBox="1"/>
          <p:nvPr/>
        </p:nvSpPr>
        <p:spPr>
          <a:xfrm>
            <a:off x="731520" y="3493008"/>
            <a:ext cx="457200" cy="457200"/>
          </a:xfrm>
          <a:prstGeom prst="rect">
            <a:avLst/>
          </a:prstGeom>
          <a:noFill/>
          <a:ln/>
        </p:spPr>
        <p:txBody>
          <a:bodyPr wrap="square" lIns="0" tIns="0" rIns="0" bIns="0" rtlCol="0" anchor="ctr"/>
          <a:lstStyle/>
          <a:p>
            <a:pPr algn="ctr" indent="0" marL="0">
              <a:buNone/>
            </a:pPr>
            <a:r>
              <a:rPr lang="en-US" sz="1600" b="1" dirty="0">
                <a:solidFill>
                  <a:schemeClr val="accent1"/>
                </a:solidFill>
              </a:rPr>
              <a:t>2</a:t>
            </a:r>
            <a:endParaRPr lang="en-US" sz="1600" dirty="0"/>
          </a:p>
        </p:txBody>
      </p:sp>
      <p:sp>
        <p:nvSpPr>
          <p:cNvPr id="10" name="Demo step 2"/>
          <p:cNvSpPr txBox="1"/>
          <p:nvPr/>
        </p:nvSpPr>
        <p:spPr>
          <a:xfrm>
            <a:off x="1417320" y="3456432"/>
            <a:ext cx="5852160" cy="530352"/>
          </a:xfrm>
          <a:prstGeom prst="rect">
            <a:avLst/>
          </a:prstGeom>
          <a:noFill/>
          <a:ln/>
        </p:spPr>
        <p:txBody>
          <a:bodyPr wrap="square" lIns="0" tIns="0" rIns="0" bIns="0" rtlCol="0" anchor="ctr"/>
          <a:lstStyle/>
          <a:p>
            <a:pPr indent="0" marL="0">
              <a:buNone/>
            </a:pPr>
            <a:r>
              <a:rPr lang="en-US" sz="2200" dirty="0">
                <a:solidFill>
                  <a:schemeClr val="tx1"/>
                </a:solidFill>
              </a:rPr>
              <a:t>"Label everything", then move the camera</a:t>
            </a:r>
            <a:endParaRPr lang="en-US" sz="2200" dirty="0"/>
          </a:p>
        </p:txBody>
      </p:sp>
      <p:sp>
        <p:nvSpPr>
          <p:cNvPr id="11" name="Demo badge 3"/>
          <p:cNvSpPr/>
          <p:nvPr/>
        </p:nvSpPr>
        <p:spPr>
          <a:xfrm>
            <a:off x="731520" y="4206240"/>
            <a:ext cx="457200" cy="457200"/>
          </a:xfrm>
          <a:prstGeom prst="ellipse">
            <a:avLst/>
          </a:prstGeom>
          <a:solidFill>
            <a:schemeClr val="bg2"/>
          </a:solidFill>
          <a:ln w="19050">
            <a:solidFill>
              <a:schemeClr val="accent1"/>
            </a:solidFill>
            <a:prstDash val="solid"/>
          </a:ln>
        </p:spPr>
      </p:sp>
      <p:sp>
        <p:nvSpPr>
          <p:cNvPr id="12" name="Demo number 3"/>
          <p:cNvSpPr txBox="1"/>
          <p:nvPr/>
        </p:nvSpPr>
        <p:spPr>
          <a:xfrm>
            <a:off x="731520" y="4206240"/>
            <a:ext cx="457200" cy="457200"/>
          </a:xfrm>
          <a:prstGeom prst="rect">
            <a:avLst/>
          </a:prstGeom>
          <a:noFill/>
          <a:ln/>
        </p:spPr>
        <p:txBody>
          <a:bodyPr wrap="square" lIns="0" tIns="0" rIns="0" bIns="0" rtlCol="0" anchor="ctr"/>
          <a:lstStyle/>
          <a:p>
            <a:pPr algn="ctr" indent="0" marL="0">
              <a:buNone/>
            </a:pPr>
            <a:r>
              <a:rPr lang="en-US" sz="1600" b="1" dirty="0">
                <a:solidFill>
                  <a:schemeClr val="accent1"/>
                </a:solidFill>
              </a:rPr>
              <a:t>3</a:t>
            </a:r>
            <a:endParaRPr lang="en-US" sz="1600" dirty="0"/>
          </a:p>
        </p:txBody>
      </p:sp>
      <p:sp>
        <p:nvSpPr>
          <p:cNvPr id="13" name="Demo step 3"/>
          <p:cNvSpPr txBox="1"/>
          <p:nvPr/>
        </p:nvSpPr>
        <p:spPr>
          <a:xfrm>
            <a:off x="1417320" y="4169664"/>
            <a:ext cx="5852160" cy="530352"/>
          </a:xfrm>
          <a:prstGeom prst="rect">
            <a:avLst/>
          </a:prstGeom>
          <a:noFill/>
          <a:ln/>
        </p:spPr>
        <p:txBody>
          <a:bodyPr wrap="square" lIns="0" tIns="0" rIns="0" bIns="0" rtlCol="0" anchor="ctr"/>
          <a:lstStyle/>
          <a:p>
            <a:pPr indent="0" marL="0">
              <a:buNone/>
            </a:pPr>
            <a:r>
              <a:rPr lang="en-US" sz="2200" dirty="0">
                <a:solidFill>
                  <a:schemeClr val="tx1"/>
                </a:solidFill>
              </a:rPr>
              <a:t>Click a small part to zoom in</a:t>
            </a:r>
            <a:endParaRPr lang="en-US" sz="2200" dirty="0"/>
          </a:p>
        </p:txBody>
      </p:sp>
      <p:sp>
        <p:nvSpPr>
          <p:cNvPr id="14" name="Demo badge 4"/>
          <p:cNvSpPr/>
          <p:nvPr/>
        </p:nvSpPr>
        <p:spPr>
          <a:xfrm>
            <a:off x="731520" y="4919472"/>
            <a:ext cx="457200" cy="457200"/>
          </a:xfrm>
          <a:prstGeom prst="ellipse">
            <a:avLst/>
          </a:prstGeom>
          <a:solidFill>
            <a:schemeClr val="bg2"/>
          </a:solidFill>
          <a:ln w="19050">
            <a:solidFill>
              <a:schemeClr val="accent1"/>
            </a:solidFill>
            <a:prstDash val="solid"/>
          </a:ln>
        </p:spPr>
      </p:sp>
      <p:sp>
        <p:nvSpPr>
          <p:cNvPr id="15" name="Demo number 4"/>
          <p:cNvSpPr txBox="1"/>
          <p:nvPr/>
        </p:nvSpPr>
        <p:spPr>
          <a:xfrm>
            <a:off x="731520" y="4919472"/>
            <a:ext cx="457200" cy="457200"/>
          </a:xfrm>
          <a:prstGeom prst="rect">
            <a:avLst/>
          </a:prstGeom>
          <a:noFill/>
          <a:ln/>
        </p:spPr>
        <p:txBody>
          <a:bodyPr wrap="square" lIns="0" tIns="0" rIns="0" bIns="0" rtlCol="0" anchor="ctr"/>
          <a:lstStyle/>
          <a:p>
            <a:pPr algn="ctr" indent="0" marL="0">
              <a:buNone/>
            </a:pPr>
            <a:r>
              <a:rPr lang="en-US" sz="1600" b="1" dirty="0">
                <a:solidFill>
                  <a:schemeClr val="accent1"/>
                </a:solidFill>
              </a:rPr>
              <a:t>4</a:t>
            </a:r>
            <a:endParaRPr lang="en-US" sz="1600" dirty="0"/>
          </a:p>
        </p:txBody>
      </p:sp>
      <p:sp>
        <p:nvSpPr>
          <p:cNvPr id="16" name="Demo step 4"/>
          <p:cNvSpPr txBox="1"/>
          <p:nvPr/>
        </p:nvSpPr>
        <p:spPr>
          <a:xfrm>
            <a:off x="1417320" y="4882896"/>
            <a:ext cx="5852160" cy="530352"/>
          </a:xfrm>
          <a:prstGeom prst="rect">
            <a:avLst/>
          </a:prstGeom>
          <a:noFill/>
          <a:ln/>
        </p:spPr>
        <p:txBody>
          <a:bodyPr wrap="square" lIns="0" tIns="0" rIns="0" bIns="0" rtlCol="0" anchor="ctr"/>
          <a:lstStyle/>
          <a:p>
            <a:pPr indent="0" marL="0">
              <a:buNone/>
            </a:pPr>
            <a:r>
              <a:rPr lang="en-US" sz="2200" dirty="0">
                <a:solidFill>
                  <a:schemeClr val="tx1"/>
                </a:solidFill>
              </a:rPr>
              <a:t>Teach it: "This is a motor driver"</a:t>
            </a:r>
            <a:endParaRPr lang="en-US" sz="2200" dirty="0"/>
          </a:p>
        </p:txBody>
      </p:sp>
      <p:sp>
        <p:nvSpPr>
          <p:cNvPr id="17" name="Demo badge 5"/>
          <p:cNvSpPr/>
          <p:nvPr/>
        </p:nvSpPr>
        <p:spPr>
          <a:xfrm>
            <a:off x="731520" y="5632704"/>
            <a:ext cx="457200" cy="457200"/>
          </a:xfrm>
          <a:prstGeom prst="ellipse">
            <a:avLst/>
          </a:prstGeom>
          <a:solidFill>
            <a:schemeClr val="bg2"/>
          </a:solidFill>
          <a:ln w="19050">
            <a:solidFill>
              <a:schemeClr val="accent1"/>
            </a:solidFill>
            <a:prstDash val="solid"/>
          </a:ln>
        </p:spPr>
      </p:sp>
      <p:sp>
        <p:nvSpPr>
          <p:cNvPr id="18" name="Demo number 5"/>
          <p:cNvSpPr txBox="1"/>
          <p:nvPr/>
        </p:nvSpPr>
        <p:spPr>
          <a:xfrm>
            <a:off x="731520" y="5632704"/>
            <a:ext cx="457200" cy="457200"/>
          </a:xfrm>
          <a:prstGeom prst="rect">
            <a:avLst/>
          </a:prstGeom>
          <a:noFill/>
          <a:ln/>
        </p:spPr>
        <p:txBody>
          <a:bodyPr wrap="square" lIns="0" tIns="0" rIns="0" bIns="0" rtlCol="0" anchor="ctr"/>
          <a:lstStyle/>
          <a:p>
            <a:pPr algn="ctr" indent="0" marL="0">
              <a:buNone/>
            </a:pPr>
            <a:r>
              <a:rPr lang="en-US" sz="1600" b="1" dirty="0">
                <a:solidFill>
                  <a:schemeClr val="accent1"/>
                </a:solidFill>
              </a:rPr>
              <a:t>5</a:t>
            </a:r>
            <a:endParaRPr lang="en-US" sz="1600" dirty="0"/>
          </a:p>
        </p:txBody>
      </p:sp>
      <p:sp>
        <p:nvSpPr>
          <p:cNvPr id="19" name="Demo step 5"/>
          <p:cNvSpPr txBox="1"/>
          <p:nvPr/>
        </p:nvSpPr>
        <p:spPr>
          <a:xfrm>
            <a:off x="1417320" y="5596128"/>
            <a:ext cx="5852160" cy="530352"/>
          </a:xfrm>
          <a:prstGeom prst="rect">
            <a:avLst/>
          </a:prstGeom>
          <a:noFill/>
          <a:ln/>
        </p:spPr>
        <p:txBody>
          <a:bodyPr wrap="square" lIns="0" tIns="0" rIns="0" bIns="0" rtlCol="0" anchor="ctr"/>
          <a:lstStyle/>
          <a:p>
            <a:pPr indent="0" marL="0">
              <a:buNone/>
            </a:pPr>
            <a:r>
              <a:rPr lang="en-US" sz="2200" dirty="0">
                <a:solidFill>
                  <a:schemeClr val="tx1"/>
                </a:solidFill>
              </a:rPr>
              <a:t>"What am I doing?"</a:t>
            </a:r>
            <a:endParaRPr lang="en-US" sz="2200" dirty="0"/>
          </a:p>
        </p:txBody>
      </p:sp>
      <p:sp>
        <p:nvSpPr>
          <p:cNvPr id="20" name="Orb glow"/>
          <p:cNvSpPr/>
          <p:nvPr/>
        </p:nvSpPr>
        <p:spPr>
          <a:xfrm>
            <a:off x="7662672" y="1901952"/>
            <a:ext cx="3328416" cy="3328416"/>
          </a:xfrm>
          <a:prstGeom prst="ellipse">
            <a:avLst/>
          </a:prstGeom>
          <a:solidFill>
            <a:schemeClr val="accent1">
              <a:alpha val="10000"/>
            </a:schemeClr>
          </a:solidFill>
          <a:ln/>
        </p:spPr>
      </p:sp>
      <p:sp>
        <p:nvSpPr>
          <p:cNvPr id="21" name="Orb body"/>
          <p:cNvSpPr/>
          <p:nvPr/>
        </p:nvSpPr>
        <p:spPr>
          <a:xfrm>
            <a:off x="8046720" y="2286000"/>
            <a:ext cx="2560320" cy="2560320"/>
          </a:xfrm>
          <a:prstGeom prst="ellipse">
            <a:avLst/>
          </a:prstGeom>
          <a:solidFill>
            <a:schemeClr val="accent1">
              <a:alpha val="75000"/>
            </a:schemeClr>
          </a:solidFill>
          <a:ln/>
        </p:spPr>
      </p:sp>
      <p:sp>
        <p:nvSpPr>
          <p:cNvPr id="22" name="Orb ring"/>
          <p:cNvSpPr/>
          <p:nvPr/>
        </p:nvSpPr>
        <p:spPr>
          <a:xfrm rot="20400000">
            <a:off x="7560259" y="3105302"/>
            <a:ext cx="3533242" cy="1024128"/>
          </a:xfrm>
          <a:prstGeom prst="ellipse">
            <a:avLst/>
          </a:prstGeom>
          <a:ln w="38100">
            <a:solidFill>
              <a:schemeClr val="accent1"/>
            </a:solidFill>
            <a:prstDash val="solid"/>
          </a:ln>
        </p:spPr>
      </p:sp>
      <p:sp>
        <p:nvSpPr>
          <p:cNvPr id="23" name="Orb eye"/>
          <p:cNvSpPr/>
          <p:nvPr/>
        </p:nvSpPr>
        <p:spPr>
          <a:xfrm>
            <a:off x="8584387" y="3041294"/>
            <a:ext cx="512064" cy="640080"/>
          </a:xfrm>
          <a:prstGeom prst="ellipse">
            <a:avLst/>
          </a:prstGeom>
          <a:solidFill>
            <a:schemeClr val="tx1"/>
          </a:solidFill>
          <a:ln/>
        </p:spPr>
      </p:sp>
      <p:sp>
        <p:nvSpPr>
          <p:cNvPr id="24" name="Orb pupil"/>
          <p:cNvSpPr/>
          <p:nvPr/>
        </p:nvSpPr>
        <p:spPr>
          <a:xfrm>
            <a:off x="8725205" y="3258922"/>
            <a:ext cx="230429" cy="307238"/>
          </a:xfrm>
          <a:prstGeom prst="ellipse">
            <a:avLst/>
          </a:prstGeom>
          <a:solidFill>
            <a:schemeClr val="bg1"/>
          </a:solidFill>
          <a:ln/>
        </p:spPr>
      </p:sp>
      <p:sp>
        <p:nvSpPr>
          <p:cNvPr id="25" name="Orb eye"/>
          <p:cNvSpPr/>
          <p:nvPr/>
        </p:nvSpPr>
        <p:spPr>
          <a:xfrm>
            <a:off x="9557309" y="3041294"/>
            <a:ext cx="512064" cy="640080"/>
          </a:xfrm>
          <a:prstGeom prst="ellipse">
            <a:avLst/>
          </a:prstGeom>
          <a:solidFill>
            <a:schemeClr val="tx1"/>
          </a:solidFill>
          <a:ln/>
        </p:spPr>
      </p:sp>
      <p:sp>
        <p:nvSpPr>
          <p:cNvPr id="26" name="Orb pupil"/>
          <p:cNvSpPr/>
          <p:nvPr/>
        </p:nvSpPr>
        <p:spPr>
          <a:xfrm>
            <a:off x="9698126" y="3258922"/>
            <a:ext cx="230429" cy="307238"/>
          </a:xfrm>
          <a:prstGeom prst="ellipse">
            <a:avLst/>
          </a:prstGeom>
          <a:solidFill>
            <a:schemeClr val="bg1"/>
          </a:solidFill>
          <a:ln/>
        </p:spPr>
      </p:sp>
      <p:sp>
        <p:nvSpPr>
          <p:cNvPr id="27" name="Orb mouth"/>
          <p:cNvSpPr/>
          <p:nvPr/>
        </p:nvSpPr>
        <p:spPr>
          <a:xfrm>
            <a:off x="9045245" y="3924605"/>
            <a:ext cx="563270" cy="115214"/>
          </a:xfrm>
          <a:prstGeom prst="roundRect">
            <a:avLst>
              <a:gd name="adj" fmla="val 15873"/>
            </a:avLst>
          </a:prstGeom>
          <a:solidFill>
            <a:schemeClr val="bg1"/>
          </a:solidFill>
          <a:ln/>
        </p:spPr>
      </p:sp>
      <p:sp>
        <p:nvSpPr>
          <p:cNvPr id="28" name="Label box"/>
          <p:cNvSpPr/>
          <p:nvPr/>
        </p:nvSpPr>
        <p:spPr>
          <a:xfrm>
            <a:off x="8961120" y="5074920"/>
            <a:ext cx="2560320" cy="914400"/>
          </a:xfrm>
          <a:prstGeom prst="rect">
            <a:avLst/>
          </a:prstGeom>
          <a:ln w="31750">
            <a:solidFill>
              <a:schemeClr val="accent1"/>
            </a:solidFill>
            <a:prstDash val="solid"/>
          </a:ln>
        </p:spPr>
      </p:sp>
      <p:sp>
        <p:nvSpPr>
          <p:cNvPr id="29" name="Object board"/>
          <p:cNvSpPr/>
          <p:nvPr/>
        </p:nvSpPr>
        <p:spPr>
          <a:xfrm>
            <a:off x="9144000" y="5230368"/>
            <a:ext cx="2194560" cy="603504"/>
          </a:xfrm>
          <a:prstGeom prst="roundRect">
            <a:avLst>
              <a:gd name="adj" fmla="val 7576"/>
            </a:avLst>
          </a:prstGeom>
          <a:solidFill>
            <a:schemeClr val="accent4"/>
          </a:solidFill>
          <a:ln/>
        </p:spPr>
      </p:sp>
      <p:sp>
        <p:nvSpPr>
          <p:cNvPr id="30" name="Sensor cylinder"/>
          <p:cNvSpPr/>
          <p:nvPr/>
        </p:nvSpPr>
        <p:spPr>
          <a:xfrm>
            <a:off x="9555480" y="5351069"/>
            <a:ext cx="362102" cy="362102"/>
          </a:xfrm>
          <a:prstGeom prst="ellipse">
            <a:avLst/>
          </a:prstGeom>
          <a:solidFill>
            <a:schemeClr val="tx1"/>
          </a:solidFill>
          <a:ln w="19050">
            <a:solidFill>
              <a:schemeClr val="tx2"/>
            </a:solidFill>
            <a:prstDash val="solid"/>
          </a:ln>
        </p:spPr>
      </p:sp>
      <p:sp>
        <p:nvSpPr>
          <p:cNvPr id="31" name="Sensor core"/>
          <p:cNvSpPr/>
          <p:nvPr/>
        </p:nvSpPr>
        <p:spPr>
          <a:xfrm>
            <a:off x="9639971" y="5435559"/>
            <a:ext cx="193121" cy="193121"/>
          </a:xfrm>
          <a:prstGeom prst="ellipse">
            <a:avLst/>
          </a:prstGeom>
          <a:solidFill>
            <a:schemeClr val="bg2"/>
          </a:solidFill>
          <a:ln/>
        </p:spPr>
      </p:sp>
      <p:sp>
        <p:nvSpPr>
          <p:cNvPr id="32" name="Sensor cylinder"/>
          <p:cNvSpPr/>
          <p:nvPr/>
        </p:nvSpPr>
        <p:spPr>
          <a:xfrm>
            <a:off x="10564978" y="5351069"/>
            <a:ext cx="362102" cy="362102"/>
          </a:xfrm>
          <a:prstGeom prst="ellipse">
            <a:avLst/>
          </a:prstGeom>
          <a:solidFill>
            <a:schemeClr val="tx1"/>
          </a:solidFill>
          <a:ln w="19050">
            <a:solidFill>
              <a:schemeClr val="tx2"/>
            </a:solidFill>
            <a:prstDash val="solid"/>
          </a:ln>
        </p:spPr>
      </p:sp>
      <p:sp>
        <p:nvSpPr>
          <p:cNvPr id="33" name="Sensor core"/>
          <p:cNvSpPr/>
          <p:nvPr/>
        </p:nvSpPr>
        <p:spPr>
          <a:xfrm>
            <a:off x="10649468" y="5435559"/>
            <a:ext cx="193121" cy="193121"/>
          </a:xfrm>
          <a:prstGeom prst="ellipse">
            <a:avLst/>
          </a:prstGeom>
          <a:solidFill>
            <a:schemeClr val="bg2"/>
          </a:solidFill>
          <a:ln/>
        </p:spPr>
      </p:sp>
      <p:sp>
        <p:nvSpPr>
          <p:cNvPr id="34" name="Label tag"/>
          <p:cNvSpPr/>
          <p:nvPr/>
        </p:nvSpPr>
        <p:spPr>
          <a:xfrm>
            <a:off x="8961120" y="4782312"/>
            <a:ext cx="1587398" cy="292608"/>
          </a:xfrm>
          <a:prstGeom prst="rect">
            <a:avLst/>
          </a:prstGeom>
          <a:solidFill>
            <a:schemeClr val="accent1"/>
          </a:solidFill>
          <a:ln/>
        </p:spPr>
      </p:sp>
      <p:sp>
        <p:nvSpPr>
          <p:cNvPr id="35" name="Label text"/>
          <p:cNvSpPr txBox="1"/>
          <p:nvPr/>
        </p:nvSpPr>
        <p:spPr>
          <a:xfrm>
            <a:off x="8961120" y="4782312"/>
            <a:ext cx="1587398" cy="292608"/>
          </a:xfrm>
          <a:prstGeom prst="rect">
            <a:avLst/>
          </a:prstGeom>
          <a:noFill/>
          <a:ln/>
        </p:spPr>
        <p:txBody>
          <a:bodyPr wrap="square" lIns="0" tIns="0" rIns="0" bIns="0" rtlCol="0" anchor="ctr"/>
          <a:lstStyle/>
          <a:p>
            <a:pPr algn="ctr" indent="0" marL="0">
              <a:buNone/>
            </a:pPr>
            <a:r>
              <a:rPr lang="en-US" sz="1200" b="1" dirty="0">
                <a:solidFill>
                  <a:schemeClr val="bg1"/>
                </a:solidFill>
              </a:rPr>
              <a:t>ultrasonic sensor</a:t>
            </a:r>
            <a:endParaRPr lang="en-US" sz="12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1091672" cy="868680"/>
          </a:xfrm>
          <a:prstGeom prst="rect">
            <a:avLst/>
          </a:prstGeom>
          <a:noFill/>
          <a:ln/>
        </p:spPr>
        <p:txBody>
          <a:bodyPr wrap="square" lIns="0" tIns="0" rIns="0" bIns="0" rtlCol="0" anchor="ctr"/>
          <a:lstStyle/>
          <a:p>
            <a:pPr algn="l" indent="0" marL="0">
              <a:buNone/>
            </a:pPr>
            <a:r>
              <a:rPr lang="en-US" sz="3400" b="1" dirty="0">
                <a:solidFill>
                  <a:schemeClr val="tx1"/>
                </a:solidFill>
              </a:rPr>
              <a:t>Everything runs on the laptop</a:t>
            </a:r>
            <a:endParaRPr lang="en-US" sz="3400" dirty="0"/>
          </a:p>
        </p:txBody>
      </p:sp>
      <p:sp>
        <p:nvSpPr>
          <p:cNvPr id="3" name="Inputs card"/>
          <p:cNvSpPr/>
          <p:nvPr/>
        </p:nvSpPr>
        <p:spPr>
          <a:xfrm>
            <a:off x="548640" y="1371600"/>
            <a:ext cx="2331720" cy="3520440"/>
          </a:xfrm>
          <a:prstGeom prst="roundRect">
            <a:avLst>
              <a:gd name="adj" fmla="val 4706"/>
            </a:avLst>
          </a:prstGeom>
          <a:solidFill>
            <a:schemeClr val="bg2"/>
          </a:solidFill>
          <a:ln w="12700">
            <a:solidFill>
              <a:schemeClr val="accent6"/>
            </a:solidFill>
            <a:prstDash val="solid"/>
          </a:ln>
        </p:spPr>
      </p:sp>
      <p:sp>
        <p:nvSpPr>
          <p:cNvPr id="4" name="Inputs title"/>
          <p:cNvSpPr txBox="1"/>
          <p:nvPr/>
        </p:nvSpPr>
        <p:spPr>
          <a:xfrm>
            <a:off x="777240" y="1508760"/>
            <a:ext cx="1874520" cy="411480"/>
          </a:xfrm>
          <a:prstGeom prst="rect">
            <a:avLst/>
          </a:prstGeom>
          <a:noFill/>
          <a:ln/>
        </p:spPr>
        <p:txBody>
          <a:bodyPr wrap="square" lIns="0" tIns="0" rIns="0" bIns="0" rtlCol="0" anchor="ctr"/>
          <a:lstStyle/>
          <a:p>
            <a:pPr indent="0" marL="0">
              <a:buNone/>
            </a:pPr>
            <a:r>
              <a:rPr lang="en-US" sz="1800" b="1" dirty="0">
                <a:solidFill>
                  <a:schemeClr val="accent1"/>
                </a:solidFill>
              </a:rPr>
              <a:t>Inputs</a:t>
            </a:r>
            <a:endParaRPr lang="en-US" sz="1800" dirty="0"/>
          </a:p>
        </p:txBody>
      </p:sp>
      <p:sp>
        <p:nvSpPr>
          <p:cNvPr id="5" name="Inputs list"/>
          <p:cNvSpPr txBox="1"/>
          <p:nvPr/>
        </p:nvSpPr>
        <p:spPr>
          <a:xfrm>
            <a:off x="777240" y="2011680"/>
            <a:ext cx="1920240" cy="2651760"/>
          </a:xfrm>
          <a:prstGeom prst="rect">
            <a:avLst/>
          </a:prstGeom>
          <a:noFill/>
          <a:ln/>
        </p:spPr>
        <p:txBody>
          <a:bodyPr wrap="square" lIns="0" tIns="0" rIns="0" bIns="0" rtlCol="0" anchor="t"/>
          <a:lstStyle/>
          <a:p>
            <a:pPr indent="0" marL="0">
              <a:spcAft>
                <a:spcPts val="1200"/>
              </a:spcAft>
              <a:buNone/>
            </a:pPr>
            <a:r>
              <a:rPr lang="en-US" sz="1700" dirty="0">
                <a:solidFill>
                  <a:schemeClr val="tx1"/>
                </a:solidFill>
              </a:rPr>
              <a:t>Camera</a:t>
            </a:r>
            <a:endParaRPr lang="en-US" sz="1700" dirty="0"/>
          </a:p>
          <a:p>
            <a:pPr indent="0" marL="0">
              <a:spcAft>
                <a:spcPts val="1200"/>
              </a:spcAft>
              <a:buNone/>
            </a:pPr>
            <a:r>
              <a:rPr lang="en-US" sz="1700" dirty="0">
                <a:solidFill>
                  <a:schemeClr val="tx1"/>
                </a:solidFill>
              </a:rPr>
              <a:t>Voice</a:t>
            </a:r>
            <a:endParaRPr lang="en-US" sz="1700" dirty="0"/>
          </a:p>
          <a:p>
            <a:pPr indent="0" marL="0">
              <a:spcAft>
                <a:spcPts val="1200"/>
              </a:spcAft>
              <a:buNone/>
            </a:pPr>
            <a:r>
              <a:rPr lang="en-US" sz="1700" dirty="0">
                <a:solidFill>
                  <a:schemeClr val="tx1"/>
                </a:solidFill>
              </a:rPr>
              <a:t>Text and clicks</a:t>
            </a:r>
            <a:endParaRPr lang="en-US" sz="1700" dirty="0"/>
          </a:p>
          <a:p>
            <a:pPr indent="0" marL="0">
              <a:spcAft>
                <a:spcPts val="1200"/>
              </a:spcAft>
              <a:buNone/>
            </a:pPr>
            <a:r>
              <a:rPr lang="en-US" sz="1700" dirty="0">
                <a:solidFill>
                  <a:schemeClr val="tx1"/>
                </a:solidFill>
              </a:rPr>
              <a:t>Motion</a:t>
            </a:r>
            <a:endParaRPr lang="en-US" sz="1700" dirty="0"/>
          </a:p>
          <a:p>
            <a:pPr indent="0" marL="0">
              <a:spcAft>
                <a:spcPts val="1200"/>
              </a:spcAft>
              <a:buNone/>
            </a:pPr>
            <a:r>
              <a:rPr lang="en-US" sz="1700" dirty="0">
                <a:solidFill>
                  <a:schemeClr val="tx1"/>
                </a:solidFill>
              </a:rPr>
              <a:t>Taught photos</a:t>
            </a:r>
            <a:endParaRPr lang="en-US" sz="1700" dirty="0"/>
          </a:p>
        </p:txBody>
      </p:sp>
      <p:sp>
        <p:nvSpPr>
          <p:cNvPr id="6" name="Arrow inputs"/>
          <p:cNvSpPr txBox="1"/>
          <p:nvPr/>
        </p:nvSpPr>
        <p:spPr>
          <a:xfrm>
            <a:off x="2852928" y="2834640"/>
            <a:ext cx="365760" cy="548640"/>
          </a:xfrm>
          <a:prstGeom prst="rect">
            <a:avLst/>
          </a:prstGeom>
          <a:noFill/>
          <a:ln/>
        </p:spPr>
        <p:txBody>
          <a:bodyPr wrap="square" lIns="0" tIns="0" rIns="0" bIns="0" rtlCol="0" anchor="ctr"/>
          <a:lstStyle/>
          <a:p>
            <a:pPr algn="ctr" indent="0" marL="0">
              <a:buNone/>
            </a:pPr>
            <a:r>
              <a:rPr lang="en-US" sz="3000" dirty="0">
                <a:solidFill>
                  <a:schemeClr val="accent1"/>
                </a:solidFill>
              </a:rPr>
              <a:t>›</a:t>
            </a:r>
            <a:endParaRPr lang="en-US" sz="3000" dirty="0"/>
          </a:p>
        </p:txBody>
      </p:sp>
      <p:sp>
        <p:nvSpPr>
          <p:cNvPr id="7" name="Browser card"/>
          <p:cNvSpPr/>
          <p:nvPr/>
        </p:nvSpPr>
        <p:spPr>
          <a:xfrm>
            <a:off x="3200400" y="1371600"/>
            <a:ext cx="4572000" cy="3520440"/>
          </a:xfrm>
          <a:prstGeom prst="roundRect">
            <a:avLst>
              <a:gd name="adj" fmla="val 3117"/>
            </a:avLst>
          </a:prstGeom>
          <a:solidFill>
            <a:schemeClr val="bg2"/>
          </a:solidFill>
          <a:ln w="19050">
            <a:solidFill>
              <a:schemeClr val="accent1"/>
            </a:solidFill>
            <a:prstDash val="solid"/>
          </a:ln>
        </p:spPr>
      </p:sp>
      <p:sp>
        <p:nvSpPr>
          <p:cNvPr id="8" name="Browser title"/>
          <p:cNvSpPr txBox="1"/>
          <p:nvPr/>
        </p:nvSpPr>
        <p:spPr>
          <a:xfrm>
            <a:off x="3429000" y="1508760"/>
            <a:ext cx="4114800" cy="411480"/>
          </a:xfrm>
          <a:prstGeom prst="rect">
            <a:avLst/>
          </a:prstGeom>
          <a:noFill/>
          <a:ln/>
        </p:spPr>
        <p:txBody>
          <a:bodyPr wrap="square" lIns="0" tIns="0" rIns="0" bIns="0" rtlCol="0" anchor="ctr"/>
          <a:lstStyle/>
          <a:p>
            <a:pPr indent="0" marL="0">
              <a:buNone/>
            </a:pPr>
            <a:r>
              <a:rPr lang="en-US" sz="1800" b="1" dirty="0">
                <a:solidFill>
                  <a:schemeClr val="accent1"/>
                </a:solidFill>
              </a:rPr>
              <a:t>Browser</a:t>
            </a:r>
            <a:endParaRPr lang="en-US" sz="1800" dirty="0"/>
          </a:p>
        </p:txBody>
      </p:sp>
      <p:sp>
        <p:nvSpPr>
          <p:cNvPr id="9" name="Browser module 1"/>
          <p:cNvSpPr/>
          <p:nvPr/>
        </p:nvSpPr>
        <p:spPr>
          <a:xfrm>
            <a:off x="3429000" y="2103120"/>
            <a:ext cx="1965960" cy="731520"/>
          </a:xfrm>
          <a:prstGeom prst="roundRect">
            <a:avLst>
              <a:gd name="adj" fmla="val 10000"/>
            </a:avLst>
          </a:prstGeom>
          <a:solidFill>
            <a:schemeClr val="bg1"/>
          </a:solidFill>
          <a:ln w="12700">
            <a:solidFill>
              <a:schemeClr val="accent6"/>
            </a:solidFill>
            <a:prstDash val="solid"/>
          </a:ln>
        </p:spPr>
      </p:sp>
      <p:sp>
        <p:nvSpPr>
          <p:cNvPr id="10" name="Browser module text 1"/>
          <p:cNvSpPr txBox="1"/>
          <p:nvPr/>
        </p:nvSpPr>
        <p:spPr>
          <a:xfrm>
            <a:off x="3429000" y="2103120"/>
            <a:ext cx="1965960" cy="731520"/>
          </a:xfrm>
          <a:prstGeom prst="rect">
            <a:avLst/>
          </a:prstGeom>
          <a:noFill/>
          <a:ln/>
        </p:spPr>
        <p:txBody>
          <a:bodyPr wrap="square" lIns="0" tIns="0" rIns="0" bIns="0" rtlCol="0" anchor="ctr"/>
          <a:lstStyle/>
          <a:p>
            <a:pPr algn="ctr" indent="0" marL="0">
              <a:buNone/>
            </a:pPr>
            <a:r>
              <a:rPr lang="en-US" sz="1500" b="1" dirty="0">
                <a:solidFill>
                  <a:schemeClr val="tx1"/>
                </a:solidFill>
              </a:rPr>
              <a:t>Camera + labels</a:t>
            </a:r>
            <a:endParaRPr lang="en-US" sz="1500" dirty="0"/>
          </a:p>
        </p:txBody>
      </p:sp>
      <p:sp>
        <p:nvSpPr>
          <p:cNvPr id="11" name="Browser module 2"/>
          <p:cNvSpPr/>
          <p:nvPr/>
        </p:nvSpPr>
        <p:spPr>
          <a:xfrm>
            <a:off x="5577840" y="2103120"/>
            <a:ext cx="1965960" cy="731520"/>
          </a:xfrm>
          <a:prstGeom prst="roundRect">
            <a:avLst>
              <a:gd name="adj" fmla="val 10000"/>
            </a:avLst>
          </a:prstGeom>
          <a:solidFill>
            <a:schemeClr val="bg1"/>
          </a:solidFill>
          <a:ln w="12700">
            <a:solidFill>
              <a:schemeClr val="accent6"/>
            </a:solidFill>
            <a:prstDash val="solid"/>
          </a:ln>
        </p:spPr>
      </p:sp>
      <p:sp>
        <p:nvSpPr>
          <p:cNvPr id="12" name="Browser module text 2"/>
          <p:cNvSpPr txBox="1"/>
          <p:nvPr/>
        </p:nvSpPr>
        <p:spPr>
          <a:xfrm>
            <a:off x="5577840" y="2103120"/>
            <a:ext cx="1965960" cy="731520"/>
          </a:xfrm>
          <a:prstGeom prst="rect">
            <a:avLst/>
          </a:prstGeom>
          <a:noFill/>
          <a:ln/>
        </p:spPr>
        <p:txBody>
          <a:bodyPr wrap="square" lIns="0" tIns="0" rIns="0" bIns="0" rtlCol="0" anchor="ctr"/>
          <a:lstStyle/>
          <a:p>
            <a:pPr algn="ctr" indent="0" marL="0">
              <a:buNone/>
            </a:pPr>
            <a:r>
              <a:rPr lang="en-US" sz="1500" b="1" dirty="0">
                <a:solidFill>
                  <a:schemeClr val="tx1"/>
                </a:solidFill>
              </a:rPr>
              <a:t>3D companion</a:t>
            </a:r>
            <a:endParaRPr lang="en-US" sz="1500" dirty="0"/>
          </a:p>
        </p:txBody>
      </p:sp>
      <p:sp>
        <p:nvSpPr>
          <p:cNvPr id="13" name="Browser module 3"/>
          <p:cNvSpPr/>
          <p:nvPr/>
        </p:nvSpPr>
        <p:spPr>
          <a:xfrm>
            <a:off x="3429000" y="2999232"/>
            <a:ext cx="1965960" cy="731520"/>
          </a:xfrm>
          <a:prstGeom prst="roundRect">
            <a:avLst>
              <a:gd name="adj" fmla="val 10000"/>
            </a:avLst>
          </a:prstGeom>
          <a:solidFill>
            <a:schemeClr val="bg1"/>
          </a:solidFill>
          <a:ln w="12700">
            <a:solidFill>
              <a:schemeClr val="accent6"/>
            </a:solidFill>
            <a:prstDash val="solid"/>
          </a:ln>
        </p:spPr>
      </p:sp>
      <p:sp>
        <p:nvSpPr>
          <p:cNvPr id="14" name="Browser module text 3"/>
          <p:cNvSpPr txBox="1"/>
          <p:nvPr/>
        </p:nvSpPr>
        <p:spPr>
          <a:xfrm>
            <a:off x="3429000" y="2999232"/>
            <a:ext cx="1965960" cy="731520"/>
          </a:xfrm>
          <a:prstGeom prst="rect">
            <a:avLst/>
          </a:prstGeom>
          <a:noFill/>
          <a:ln/>
        </p:spPr>
        <p:txBody>
          <a:bodyPr wrap="square" lIns="0" tIns="0" rIns="0" bIns="0" rtlCol="0" anchor="ctr"/>
          <a:lstStyle/>
          <a:p>
            <a:pPr algn="ctr" indent="0" marL="0">
              <a:buNone/>
            </a:pPr>
            <a:r>
              <a:rPr lang="en-US" sz="1500" b="1" dirty="0">
                <a:solidFill>
                  <a:schemeClr val="tx1"/>
                </a:solidFill>
              </a:rPr>
              <a:t>Action analysis</a:t>
            </a:r>
            <a:endParaRPr lang="en-US" sz="1500" dirty="0"/>
          </a:p>
        </p:txBody>
      </p:sp>
      <p:sp>
        <p:nvSpPr>
          <p:cNvPr id="15" name="Browser module 4"/>
          <p:cNvSpPr/>
          <p:nvPr/>
        </p:nvSpPr>
        <p:spPr>
          <a:xfrm>
            <a:off x="5577840" y="2999232"/>
            <a:ext cx="1965960" cy="731520"/>
          </a:xfrm>
          <a:prstGeom prst="roundRect">
            <a:avLst>
              <a:gd name="adj" fmla="val 10000"/>
            </a:avLst>
          </a:prstGeom>
          <a:solidFill>
            <a:schemeClr val="bg1"/>
          </a:solidFill>
          <a:ln w="12700">
            <a:solidFill>
              <a:schemeClr val="accent6"/>
            </a:solidFill>
            <a:prstDash val="solid"/>
          </a:ln>
        </p:spPr>
      </p:sp>
      <p:sp>
        <p:nvSpPr>
          <p:cNvPr id="16" name="Browser module text 4"/>
          <p:cNvSpPr txBox="1"/>
          <p:nvPr/>
        </p:nvSpPr>
        <p:spPr>
          <a:xfrm>
            <a:off x="5577840" y="2999232"/>
            <a:ext cx="1965960" cy="731520"/>
          </a:xfrm>
          <a:prstGeom prst="rect">
            <a:avLst/>
          </a:prstGeom>
          <a:noFill/>
          <a:ln/>
        </p:spPr>
        <p:txBody>
          <a:bodyPr wrap="square" lIns="0" tIns="0" rIns="0" bIns="0" rtlCol="0" anchor="ctr"/>
          <a:lstStyle/>
          <a:p>
            <a:pPr algn="ctr" indent="0" marL="0">
              <a:buNone/>
            </a:pPr>
            <a:r>
              <a:rPr lang="en-US" sz="1500" b="1" dirty="0">
                <a:solidFill>
                  <a:schemeClr val="tx1"/>
                </a:solidFill>
              </a:rPr>
              <a:t>Voice in and out</a:t>
            </a:r>
            <a:endParaRPr lang="en-US" sz="1500" dirty="0"/>
          </a:p>
        </p:txBody>
      </p:sp>
      <p:sp>
        <p:nvSpPr>
          <p:cNvPr id="17" name="Browser module 5"/>
          <p:cNvSpPr/>
          <p:nvPr/>
        </p:nvSpPr>
        <p:spPr>
          <a:xfrm>
            <a:off x="3429000" y="3895344"/>
            <a:ext cx="1965960" cy="731520"/>
          </a:xfrm>
          <a:prstGeom prst="roundRect">
            <a:avLst>
              <a:gd name="adj" fmla="val 10000"/>
            </a:avLst>
          </a:prstGeom>
          <a:solidFill>
            <a:schemeClr val="bg1"/>
          </a:solidFill>
          <a:ln w="12700">
            <a:solidFill>
              <a:schemeClr val="accent6"/>
            </a:solidFill>
            <a:prstDash val="solid"/>
          </a:ln>
        </p:spPr>
      </p:sp>
      <p:sp>
        <p:nvSpPr>
          <p:cNvPr id="18" name="Browser module text 5"/>
          <p:cNvSpPr txBox="1"/>
          <p:nvPr/>
        </p:nvSpPr>
        <p:spPr>
          <a:xfrm>
            <a:off x="3429000" y="3895344"/>
            <a:ext cx="1965960" cy="731520"/>
          </a:xfrm>
          <a:prstGeom prst="rect">
            <a:avLst/>
          </a:prstGeom>
          <a:noFill/>
          <a:ln/>
        </p:spPr>
        <p:txBody>
          <a:bodyPr wrap="square" lIns="0" tIns="0" rIns="0" bIns="0" rtlCol="0" anchor="ctr"/>
          <a:lstStyle/>
          <a:p>
            <a:pPr algn="ctr" indent="0" marL="0">
              <a:buNone/>
            </a:pPr>
            <a:r>
              <a:rPr lang="en-US" sz="1500" b="1" dirty="0">
                <a:solidFill>
                  <a:schemeClr val="tx1"/>
                </a:solidFill>
              </a:rPr>
              <a:t>Memory</a:t>
            </a:r>
            <a:endParaRPr lang="en-US" sz="1500" dirty="0"/>
          </a:p>
        </p:txBody>
      </p:sp>
      <p:sp>
        <p:nvSpPr>
          <p:cNvPr id="19" name="Browser module 6"/>
          <p:cNvSpPr/>
          <p:nvPr/>
        </p:nvSpPr>
        <p:spPr>
          <a:xfrm>
            <a:off x="5577840" y="3895344"/>
            <a:ext cx="1965960" cy="731520"/>
          </a:xfrm>
          <a:prstGeom prst="roundRect">
            <a:avLst>
              <a:gd name="adj" fmla="val 10000"/>
            </a:avLst>
          </a:prstGeom>
          <a:solidFill>
            <a:schemeClr val="bg1"/>
          </a:solidFill>
          <a:ln w="12700">
            <a:solidFill>
              <a:schemeClr val="accent6"/>
            </a:solidFill>
            <a:prstDash val="solid"/>
          </a:ln>
        </p:spPr>
      </p:sp>
      <p:sp>
        <p:nvSpPr>
          <p:cNvPr id="20" name="Browser module text 6"/>
          <p:cNvSpPr txBox="1"/>
          <p:nvPr/>
        </p:nvSpPr>
        <p:spPr>
          <a:xfrm>
            <a:off x="5577840" y="3895344"/>
            <a:ext cx="1965960" cy="731520"/>
          </a:xfrm>
          <a:prstGeom prst="rect">
            <a:avLst/>
          </a:prstGeom>
          <a:noFill/>
          <a:ln/>
        </p:spPr>
        <p:txBody>
          <a:bodyPr wrap="square" lIns="0" tIns="0" rIns="0" bIns="0" rtlCol="0" anchor="ctr"/>
          <a:lstStyle/>
          <a:p>
            <a:pPr algn="ctr" indent="0" marL="0">
              <a:buNone/>
            </a:pPr>
            <a:r>
              <a:rPr lang="en-US" sz="1500" b="1" dirty="0">
                <a:solidFill>
                  <a:schemeClr val="tx1"/>
                </a:solidFill>
              </a:rPr>
              <a:t>Chat history</a:t>
            </a:r>
            <a:endParaRPr lang="en-US" sz="1500" dirty="0"/>
          </a:p>
        </p:txBody>
      </p:sp>
      <p:sp>
        <p:nvSpPr>
          <p:cNvPr id="21" name="Arrow browser"/>
          <p:cNvSpPr txBox="1"/>
          <p:nvPr/>
        </p:nvSpPr>
        <p:spPr>
          <a:xfrm>
            <a:off x="7744968" y="2834640"/>
            <a:ext cx="365760" cy="548640"/>
          </a:xfrm>
          <a:prstGeom prst="rect">
            <a:avLst/>
          </a:prstGeom>
          <a:noFill/>
          <a:ln/>
        </p:spPr>
        <p:txBody>
          <a:bodyPr wrap="square" lIns="0" tIns="0" rIns="0" bIns="0" rtlCol="0" anchor="ctr"/>
          <a:lstStyle/>
          <a:p>
            <a:pPr algn="ctr" indent="0" marL="0">
              <a:buNone/>
            </a:pPr>
            <a:r>
              <a:rPr lang="en-US" sz="3000" dirty="0">
                <a:solidFill>
                  <a:schemeClr val="accent1"/>
                </a:solidFill>
              </a:rPr>
              <a:t>›</a:t>
            </a:r>
            <a:endParaRPr lang="en-US" sz="3000" dirty="0"/>
          </a:p>
        </p:txBody>
      </p:sp>
      <p:sp>
        <p:nvSpPr>
          <p:cNvPr id="22" name="Server card"/>
          <p:cNvSpPr/>
          <p:nvPr/>
        </p:nvSpPr>
        <p:spPr>
          <a:xfrm>
            <a:off x="8092440" y="1371600"/>
            <a:ext cx="3547872" cy="1600200"/>
          </a:xfrm>
          <a:prstGeom prst="roundRect">
            <a:avLst>
              <a:gd name="adj" fmla="val 6857"/>
            </a:avLst>
          </a:prstGeom>
          <a:solidFill>
            <a:schemeClr val="bg2"/>
          </a:solidFill>
          <a:ln w="12700">
            <a:solidFill>
              <a:schemeClr val="accent6"/>
            </a:solidFill>
            <a:prstDash val="solid"/>
          </a:ln>
        </p:spPr>
      </p:sp>
      <p:sp>
        <p:nvSpPr>
          <p:cNvPr id="23" name="Server title"/>
          <p:cNvSpPr txBox="1"/>
          <p:nvPr/>
        </p:nvSpPr>
        <p:spPr>
          <a:xfrm>
            <a:off x="8321040" y="1508760"/>
            <a:ext cx="3090672" cy="411480"/>
          </a:xfrm>
          <a:prstGeom prst="rect">
            <a:avLst/>
          </a:prstGeom>
          <a:noFill/>
          <a:ln/>
        </p:spPr>
        <p:txBody>
          <a:bodyPr wrap="square" lIns="0" tIns="0" rIns="0" bIns="0" rtlCol="0" anchor="ctr"/>
          <a:lstStyle/>
          <a:p>
            <a:pPr indent="0" marL="0">
              <a:buNone/>
            </a:pPr>
            <a:r>
              <a:rPr lang="en-US" sz="1800" b="1" dirty="0">
                <a:solidFill>
                  <a:schemeClr val="accent1"/>
                </a:solidFill>
              </a:rPr>
              <a:t>Node server</a:t>
            </a:r>
            <a:endParaRPr lang="en-US" sz="1800" dirty="0"/>
          </a:p>
        </p:txBody>
      </p:sp>
      <p:sp>
        <p:nvSpPr>
          <p:cNvPr id="24" name="Server text"/>
          <p:cNvSpPr txBox="1"/>
          <p:nvPr/>
        </p:nvSpPr>
        <p:spPr>
          <a:xfrm>
            <a:off x="8321040" y="1965960"/>
            <a:ext cx="3108960" cy="868680"/>
          </a:xfrm>
          <a:prstGeom prst="rect">
            <a:avLst/>
          </a:prstGeom>
          <a:noFill/>
          <a:ln/>
        </p:spPr>
        <p:txBody>
          <a:bodyPr wrap="square" lIns="0" tIns="0" rIns="0" bIns="0" rtlCol="0" anchor="t"/>
          <a:lstStyle/>
          <a:p>
            <a:pPr indent="0" marL="0">
              <a:buNone/>
            </a:pPr>
            <a:r>
              <a:rPr lang="en-US" sz="1500" dirty="0">
                <a:solidFill>
                  <a:schemeClr val="tx1"/>
                </a:solidFill>
              </a:rPr>
              <a:t>Chat, grounding and speech endpoints. Zero dependencies.</a:t>
            </a:r>
            <a:endParaRPr lang="en-US" sz="1500" dirty="0"/>
          </a:p>
        </p:txBody>
      </p:sp>
      <p:sp>
        <p:nvSpPr>
          <p:cNvPr id="25" name="Models card"/>
          <p:cNvSpPr/>
          <p:nvPr/>
        </p:nvSpPr>
        <p:spPr>
          <a:xfrm>
            <a:off x="8092440" y="3154680"/>
            <a:ext cx="3547872" cy="1737360"/>
          </a:xfrm>
          <a:prstGeom prst="roundRect">
            <a:avLst>
              <a:gd name="adj" fmla="val 6316"/>
            </a:avLst>
          </a:prstGeom>
          <a:solidFill>
            <a:schemeClr val="bg2"/>
          </a:solidFill>
          <a:ln w="19050">
            <a:solidFill>
              <a:schemeClr val="accent1"/>
            </a:solidFill>
            <a:prstDash val="solid"/>
          </a:ln>
        </p:spPr>
      </p:sp>
      <p:sp>
        <p:nvSpPr>
          <p:cNvPr id="26" name="Models title"/>
          <p:cNvSpPr txBox="1"/>
          <p:nvPr/>
        </p:nvSpPr>
        <p:spPr>
          <a:xfrm>
            <a:off x="8321040" y="3291840"/>
            <a:ext cx="3090672" cy="411480"/>
          </a:xfrm>
          <a:prstGeom prst="rect">
            <a:avLst/>
          </a:prstGeom>
          <a:noFill/>
          <a:ln/>
        </p:spPr>
        <p:txBody>
          <a:bodyPr wrap="square" lIns="0" tIns="0" rIns="0" bIns="0" rtlCol="0" anchor="ctr"/>
          <a:lstStyle/>
          <a:p>
            <a:pPr indent="0" marL="0">
              <a:buNone/>
            </a:pPr>
            <a:r>
              <a:rPr lang="en-US" sz="1800" b="1" dirty="0">
                <a:solidFill>
                  <a:schemeClr val="accent1"/>
                </a:solidFill>
              </a:rPr>
              <a:t>Local models</a:t>
            </a:r>
            <a:endParaRPr lang="en-US" sz="1800" dirty="0"/>
          </a:p>
        </p:txBody>
      </p:sp>
      <p:sp>
        <p:nvSpPr>
          <p:cNvPr id="27" name="Models text"/>
          <p:cNvSpPr txBox="1"/>
          <p:nvPr/>
        </p:nvSpPr>
        <p:spPr>
          <a:xfrm>
            <a:off x="8321040" y="3749040"/>
            <a:ext cx="3108960" cy="1005840"/>
          </a:xfrm>
          <a:prstGeom prst="rect">
            <a:avLst/>
          </a:prstGeom>
          <a:noFill/>
          <a:ln/>
        </p:spPr>
        <p:txBody>
          <a:bodyPr wrap="square" lIns="0" tIns="0" rIns="0" bIns="0" rtlCol="0" anchor="t"/>
          <a:lstStyle/>
          <a:p>
            <a:pPr indent="0" marL="0">
              <a:spcAft>
                <a:spcPts val="800"/>
              </a:spcAft>
              <a:buNone/>
            </a:pPr>
            <a:r>
              <a:rPr lang="en-US" sz="1500" dirty="0">
                <a:solidFill>
                  <a:schemeClr val="tx1"/>
                </a:solidFill>
              </a:rPr>
              <a:t>Qwen2.5-VL 7B on the GPU</a:t>
            </a:r>
            <a:endParaRPr lang="en-US" sz="1500" dirty="0"/>
          </a:p>
          <a:p>
            <a:pPr indent="0" marL="0">
              <a:spcAft>
                <a:spcPts val="800"/>
              </a:spcAft>
              <a:buNone/>
            </a:pPr>
            <a:r>
              <a:rPr lang="en-US" sz="1500" dirty="0">
                <a:solidFill>
                  <a:schemeClr val="tx1"/>
                </a:solidFill>
              </a:rPr>
              <a:t>faster-whisper on the CPU</a:t>
            </a:r>
            <a:endParaRPr lang="en-US" sz="1500" dirty="0"/>
          </a:p>
        </p:txBody>
      </p:sp>
      <p:sp>
        <p:nvSpPr>
          <p:cNvPr id="28" name="Point title 1"/>
          <p:cNvSpPr txBox="1"/>
          <p:nvPr/>
        </p:nvSpPr>
        <p:spPr>
          <a:xfrm>
            <a:off x="548640" y="5166360"/>
            <a:ext cx="3566160" cy="365760"/>
          </a:xfrm>
          <a:prstGeom prst="rect">
            <a:avLst/>
          </a:prstGeom>
          <a:noFill/>
          <a:ln/>
        </p:spPr>
        <p:txBody>
          <a:bodyPr wrap="square" lIns="0" tIns="0" rIns="0" bIns="0" rtlCol="0" anchor="ctr"/>
          <a:lstStyle/>
          <a:p>
            <a:pPr indent="0" marL="0">
              <a:buNone/>
            </a:pPr>
            <a:r>
              <a:rPr lang="en-US" sz="1700" b="1" dirty="0">
                <a:solidFill>
                  <a:schemeClr val="accent1"/>
                </a:solidFill>
              </a:rPr>
              <a:t>Private by default</a:t>
            </a:r>
            <a:endParaRPr lang="en-US" sz="1700" dirty="0"/>
          </a:p>
        </p:txBody>
      </p:sp>
      <p:sp>
        <p:nvSpPr>
          <p:cNvPr id="29" name="Point text 1"/>
          <p:cNvSpPr txBox="1"/>
          <p:nvPr/>
        </p:nvSpPr>
        <p:spPr>
          <a:xfrm>
            <a:off x="548640" y="5550408"/>
            <a:ext cx="3566160" cy="640080"/>
          </a:xfrm>
          <a:prstGeom prst="rect">
            <a:avLst/>
          </a:prstGeom>
          <a:noFill/>
          <a:ln/>
        </p:spPr>
        <p:txBody>
          <a:bodyPr wrap="square" lIns="0" tIns="0" rIns="0" bIns="0" rtlCol="0" anchor="t"/>
          <a:lstStyle/>
          <a:p>
            <a:pPr indent="0" marL="0">
              <a:buNone/>
            </a:pPr>
            <a:r>
              <a:rPr lang="en-US" sz="1400" dirty="0">
                <a:solidFill>
                  <a:schemeClr val="tx1"/>
                </a:solidFill>
              </a:rPr>
              <a:t>Chats, memory and the frame buffer stay in your browser.</a:t>
            </a:r>
            <a:endParaRPr lang="en-US" sz="1400" dirty="0"/>
          </a:p>
        </p:txBody>
      </p:sp>
      <p:sp>
        <p:nvSpPr>
          <p:cNvPr id="30" name="Point title 2"/>
          <p:cNvSpPr txBox="1"/>
          <p:nvPr/>
        </p:nvSpPr>
        <p:spPr>
          <a:xfrm>
            <a:off x="4297680" y="5166360"/>
            <a:ext cx="3566160" cy="365760"/>
          </a:xfrm>
          <a:prstGeom prst="rect">
            <a:avLst/>
          </a:prstGeom>
          <a:noFill/>
          <a:ln/>
        </p:spPr>
        <p:txBody>
          <a:bodyPr wrap="square" lIns="0" tIns="0" rIns="0" bIns="0" rtlCol="0" anchor="ctr"/>
          <a:lstStyle/>
          <a:p>
            <a:pPr indent="0" marL="0">
              <a:buNone/>
            </a:pPr>
            <a:r>
              <a:rPr lang="en-US" sz="1700" b="1" dirty="0">
                <a:solidFill>
                  <a:schemeClr val="accent1"/>
                </a:solidFill>
              </a:rPr>
              <a:t>No cloud needed</a:t>
            </a:r>
            <a:endParaRPr lang="en-US" sz="1700" dirty="0"/>
          </a:p>
        </p:txBody>
      </p:sp>
      <p:sp>
        <p:nvSpPr>
          <p:cNvPr id="31" name="Point text 2"/>
          <p:cNvSpPr txBox="1"/>
          <p:nvPr/>
        </p:nvSpPr>
        <p:spPr>
          <a:xfrm>
            <a:off x="4297680" y="5550408"/>
            <a:ext cx="3566160" cy="640080"/>
          </a:xfrm>
          <a:prstGeom prst="rect">
            <a:avLst/>
          </a:prstGeom>
          <a:noFill/>
          <a:ln/>
        </p:spPr>
        <p:txBody>
          <a:bodyPr wrap="square" lIns="0" tIns="0" rIns="0" bIns="0" rtlCol="0" anchor="t"/>
          <a:lstStyle/>
          <a:p>
            <a:pPr indent="0" marL="0">
              <a:buNone/>
            </a:pPr>
            <a:r>
              <a:rPr lang="en-US" sz="1400" dirty="0">
                <a:solidFill>
                  <a:schemeClr val="tx1"/>
                </a:solidFill>
              </a:rPr>
              <a:t>Vision runs here; speech can too with the offline mic.</a:t>
            </a:r>
            <a:endParaRPr lang="en-US" sz="1400" dirty="0"/>
          </a:p>
        </p:txBody>
      </p:sp>
      <p:sp>
        <p:nvSpPr>
          <p:cNvPr id="32" name="Point title 3"/>
          <p:cNvSpPr txBox="1"/>
          <p:nvPr/>
        </p:nvSpPr>
        <p:spPr>
          <a:xfrm>
            <a:off x="8046720" y="5166360"/>
            <a:ext cx="3566160" cy="365760"/>
          </a:xfrm>
          <a:prstGeom prst="rect">
            <a:avLst/>
          </a:prstGeom>
          <a:noFill/>
          <a:ln/>
        </p:spPr>
        <p:txBody>
          <a:bodyPr wrap="square" lIns="0" tIns="0" rIns="0" bIns="0" rtlCol="0" anchor="ctr"/>
          <a:lstStyle/>
          <a:p>
            <a:pPr indent="0" marL="0">
              <a:buNone/>
            </a:pPr>
            <a:r>
              <a:rPr lang="en-US" sz="1700" b="1" dirty="0">
                <a:solidFill>
                  <a:schemeClr val="accent1"/>
                </a:solidFill>
              </a:rPr>
              <a:t>Measured, not guessed</a:t>
            </a:r>
            <a:endParaRPr lang="en-US" sz="1700" dirty="0"/>
          </a:p>
        </p:txBody>
      </p:sp>
      <p:sp>
        <p:nvSpPr>
          <p:cNvPr id="33" name="Point text 3"/>
          <p:cNvSpPr txBox="1"/>
          <p:nvPr/>
        </p:nvSpPr>
        <p:spPr>
          <a:xfrm>
            <a:off x="8046720" y="5550408"/>
            <a:ext cx="3566160" cy="640080"/>
          </a:xfrm>
          <a:prstGeom prst="rect">
            <a:avLst/>
          </a:prstGeom>
          <a:noFill/>
          <a:ln/>
        </p:spPr>
        <p:txBody>
          <a:bodyPr wrap="square" lIns="0" tIns="0" rIns="0" bIns="0" rtlCol="0" anchor="t"/>
          <a:lstStyle/>
          <a:p>
            <a:pPr indent="0" marL="0">
              <a:buNone/>
            </a:pPr>
            <a:r>
              <a:rPr lang="en-US" sz="1400" dirty="0">
                <a:solidFill>
                  <a:schemeClr val="tx1"/>
                </a:solidFill>
              </a:rPr>
              <a:t>1.2 s to first token; boxes at 0.96 IoU.</a:t>
            </a:r>
            <a:endParaRPr lang="en-US" sz="1400" dirty="0"/>
          </a:p>
        </p:txBody>
      </p:sp>
      <p:sp>
        <p:nvSpPr>
          <p:cNvPr id="25" name="Slide Number Placeholder 0"/>
          <p:cNvSpPr>
            <a:spLocks noGrp="1"/>
          </p:cNvSpPr>
          <p:nvPr>
            <p:ph type="sldNum" sz="quarter" idx="4294967295"/>
          </p:nvPr>
        </p:nvSpPr>
        <p:spPr>
          <a:xfrm>
            <a:off x="11064240" y="6400800"/>
            <a:ext cx="576072"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8B93A1"/>
                </a:solidFill>
              </a:defRPr>
            </a:lvl1pPr>
          </a:lstStyle>
          <a:p>
            <a:pPr algn="l"/>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1091672" cy="868680"/>
          </a:xfrm>
          <a:prstGeom prst="rect">
            <a:avLst/>
          </a:prstGeom>
          <a:noFill/>
          <a:ln/>
        </p:spPr>
        <p:txBody>
          <a:bodyPr wrap="square" lIns="0" tIns="0" rIns="0" bIns="0" rtlCol="0" anchor="ctr"/>
          <a:lstStyle/>
          <a:p>
            <a:pPr algn="l" indent="0" marL="0">
              <a:buNone/>
            </a:pPr>
            <a:r>
              <a:rPr lang="en-US" sz="3400" b="1" dirty="0">
                <a:solidFill>
                  <a:schemeClr val="tx1"/>
                </a:solidFill>
              </a:rPr>
              <a:t>What broke first, and the fix</a:t>
            </a:r>
            <a:endParaRPr lang="en-US" sz="3400" dirty="0"/>
          </a:p>
        </p:txBody>
      </p:sp>
      <p:sp>
        <p:nvSpPr>
          <p:cNvPr id="3" name="Failure card 1"/>
          <p:cNvSpPr/>
          <p:nvPr/>
        </p:nvSpPr>
        <p:spPr>
          <a:xfrm>
            <a:off x="548640" y="1463040"/>
            <a:ext cx="5440680" cy="2194560"/>
          </a:xfrm>
          <a:prstGeom prst="roundRect">
            <a:avLst>
              <a:gd name="adj" fmla="val 5000"/>
            </a:avLst>
          </a:prstGeom>
          <a:solidFill>
            <a:schemeClr val="bg2"/>
          </a:solidFill>
          <a:ln w="12700">
            <a:solidFill>
              <a:schemeClr val="accent6"/>
            </a:solidFill>
            <a:prstDash val="solid"/>
          </a:ln>
        </p:spPr>
      </p:sp>
      <p:sp>
        <p:nvSpPr>
          <p:cNvPr id="4" name="Failure stat 1"/>
          <p:cNvSpPr txBox="1"/>
          <p:nvPr/>
        </p:nvSpPr>
        <p:spPr>
          <a:xfrm>
            <a:off x="777240" y="1645920"/>
            <a:ext cx="1737360" cy="1828800"/>
          </a:xfrm>
          <a:prstGeom prst="rect">
            <a:avLst/>
          </a:prstGeom>
          <a:noFill/>
          <a:ln/>
        </p:spPr>
        <p:txBody>
          <a:bodyPr wrap="square" lIns="0" tIns="0" rIns="0" bIns="0" rtlCol="0" anchor="ctr"/>
          <a:lstStyle/>
          <a:p>
            <a:pPr algn="ctr" indent="0" marL="0">
              <a:buNone/>
            </a:pPr>
            <a:r>
              <a:rPr lang="en-US" sz="4000" b="1" dirty="0">
                <a:solidFill>
                  <a:schemeClr val="accent2"/>
                </a:solidFill>
              </a:rPr>
              <a:t>1.2×</a:t>
            </a:r>
            <a:endParaRPr lang="en-US" sz="4000" dirty="0"/>
          </a:p>
        </p:txBody>
      </p:sp>
      <p:sp>
        <p:nvSpPr>
          <p:cNvPr id="5" name="Failure title 1"/>
          <p:cNvSpPr txBox="1"/>
          <p:nvPr/>
        </p:nvSpPr>
        <p:spPr>
          <a:xfrm>
            <a:off x="2697480" y="1719072"/>
            <a:ext cx="3063240" cy="457200"/>
          </a:xfrm>
          <a:prstGeom prst="rect">
            <a:avLst/>
          </a:prstGeom>
          <a:noFill/>
          <a:ln/>
        </p:spPr>
        <p:txBody>
          <a:bodyPr wrap="square" lIns="0" tIns="0" rIns="0" bIns="0" rtlCol="0" anchor="ctr"/>
          <a:lstStyle/>
          <a:p>
            <a:pPr indent="0" marL="0">
              <a:buNone/>
            </a:pPr>
            <a:r>
              <a:rPr lang="en-US" sz="1900" b="1" dirty="0">
                <a:solidFill>
                  <a:schemeClr val="tx1"/>
                </a:solidFill>
              </a:rPr>
              <a:t>Boxes were too big</a:t>
            </a:r>
            <a:endParaRPr lang="en-US" sz="1900" dirty="0"/>
          </a:p>
        </p:txBody>
      </p:sp>
      <p:sp>
        <p:nvSpPr>
          <p:cNvPr id="6" name="Failure text 1"/>
          <p:cNvSpPr txBox="1"/>
          <p:nvPr/>
        </p:nvSpPr>
        <p:spPr>
          <a:xfrm>
            <a:off x="2697480" y="2240280"/>
            <a:ext cx="3063240" cy="1234440"/>
          </a:xfrm>
          <a:prstGeom prst="rect">
            <a:avLst/>
          </a:prstGeom>
          <a:noFill/>
          <a:ln/>
        </p:spPr>
        <p:txBody>
          <a:bodyPr wrap="square" lIns="0" tIns="0" rIns="0" bIns="0" rtlCol="0" anchor="t"/>
          <a:lstStyle/>
          <a:p>
            <a:pPr indent="0" marL="0">
              <a:buNone/>
            </a:pPr>
            <a:r>
              <a:rPr lang="en-US" sz="1400" dirty="0">
                <a:solidFill>
                  <a:schemeClr val="tx2"/>
                </a:solidFill>
              </a:rPr>
              <a:t>Ollama resizes images before the model sees them. Sending 1204×672 frames makes coordinates exact.</a:t>
            </a:r>
            <a:endParaRPr lang="en-US" sz="1400" dirty="0"/>
          </a:p>
        </p:txBody>
      </p:sp>
      <p:sp>
        <p:nvSpPr>
          <p:cNvPr id="7" name="Failure card 2"/>
          <p:cNvSpPr/>
          <p:nvPr/>
        </p:nvSpPr>
        <p:spPr>
          <a:xfrm>
            <a:off x="6199632" y="1463040"/>
            <a:ext cx="5440680" cy="2194560"/>
          </a:xfrm>
          <a:prstGeom prst="roundRect">
            <a:avLst>
              <a:gd name="adj" fmla="val 5000"/>
            </a:avLst>
          </a:prstGeom>
          <a:solidFill>
            <a:schemeClr val="bg2"/>
          </a:solidFill>
          <a:ln w="12700">
            <a:solidFill>
              <a:schemeClr val="accent6"/>
            </a:solidFill>
            <a:prstDash val="solid"/>
          </a:ln>
        </p:spPr>
      </p:sp>
      <p:sp>
        <p:nvSpPr>
          <p:cNvPr id="8" name="Failure stat 2"/>
          <p:cNvSpPr txBox="1"/>
          <p:nvPr/>
        </p:nvSpPr>
        <p:spPr>
          <a:xfrm>
            <a:off x="6428232" y="1645920"/>
            <a:ext cx="1737360" cy="1828800"/>
          </a:xfrm>
          <a:prstGeom prst="rect">
            <a:avLst/>
          </a:prstGeom>
          <a:noFill/>
          <a:ln/>
        </p:spPr>
        <p:txBody>
          <a:bodyPr wrap="square" lIns="0" tIns="0" rIns="0" bIns="0" rtlCol="0" anchor="ctr"/>
          <a:lstStyle/>
          <a:p>
            <a:pPr algn="ctr" indent="0" marL="0">
              <a:buNone/>
            </a:pPr>
            <a:r>
              <a:rPr lang="en-US" sz="4000" b="1" dirty="0">
                <a:solidFill>
                  <a:schemeClr val="accent2"/>
                </a:solidFill>
              </a:rPr>
              <a:t>4/4</a:t>
            </a:r>
            <a:endParaRPr lang="en-US" sz="4000" dirty="0"/>
          </a:p>
        </p:txBody>
      </p:sp>
      <p:sp>
        <p:nvSpPr>
          <p:cNvPr id="9" name="Failure title 2"/>
          <p:cNvSpPr txBox="1"/>
          <p:nvPr/>
        </p:nvSpPr>
        <p:spPr>
          <a:xfrm>
            <a:off x="8348472" y="1719072"/>
            <a:ext cx="3063240" cy="457200"/>
          </a:xfrm>
          <a:prstGeom prst="rect">
            <a:avLst/>
          </a:prstGeom>
          <a:noFill/>
          <a:ln/>
        </p:spPr>
        <p:txBody>
          <a:bodyPr wrap="square" lIns="0" tIns="0" rIns="0" bIns="0" rtlCol="0" anchor="ctr"/>
          <a:lstStyle/>
          <a:p>
            <a:pPr indent="0" marL="0">
              <a:buNone/>
            </a:pPr>
            <a:r>
              <a:rPr lang="en-US" sz="1900" b="1" dirty="0">
                <a:solidFill>
                  <a:schemeClr val="tx1"/>
                </a:solidFill>
              </a:rPr>
              <a:t>False matches</a:t>
            </a:r>
            <a:endParaRPr lang="en-US" sz="1900" dirty="0"/>
          </a:p>
        </p:txBody>
      </p:sp>
      <p:sp>
        <p:nvSpPr>
          <p:cNvPr id="10" name="Failure text 2"/>
          <p:cNvSpPr txBox="1"/>
          <p:nvPr/>
        </p:nvSpPr>
        <p:spPr>
          <a:xfrm>
            <a:off x="8348472" y="2240280"/>
            <a:ext cx="3063240" cy="1234440"/>
          </a:xfrm>
          <a:prstGeom prst="rect">
            <a:avLst/>
          </a:prstGeom>
          <a:noFill/>
          <a:ln/>
        </p:spPr>
        <p:txBody>
          <a:bodyPr wrap="square" lIns="0" tIns="0" rIns="0" bIns="0" rtlCol="0" anchor="t"/>
          <a:lstStyle/>
          <a:p>
            <a:pPr indent="0" marL="0">
              <a:buNone/>
            </a:pPr>
            <a:r>
              <a:rPr lang="en-US" sz="1400" dirty="0">
                <a:solidFill>
                  <a:schemeClr val="tx2"/>
                </a:solidFill>
              </a:rPr>
              <a:t>Reference photos in the prompt matched every unrelated image. A yes/no check per photo: 0 of 10.</a:t>
            </a:r>
            <a:endParaRPr lang="en-US" sz="1400" dirty="0"/>
          </a:p>
        </p:txBody>
      </p:sp>
      <p:sp>
        <p:nvSpPr>
          <p:cNvPr id="11" name="Failure card 3"/>
          <p:cNvSpPr/>
          <p:nvPr/>
        </p:nvSpPr>
        <p:spPr>
          <a:xfrm>
            <a:off x="548640" y="3886200"/>
            <a:ext cx="5440680" cy="2194560"/>
          </a:xfrm>
          <a:prstGeom prst="roundRect">
            <a:avLst>
              <a:gd name="adj" fmla="val 5000"/>
            </a:avLst>
          </a:prstGeom>
          <a:solidFill>
            <a:schemeClr val="bg2"/>
          </a:solidFill>
          <a:ln w="12700">
            <a:solidFill>
              <a:schemeClr val="accent6"/>
            </a:solidFill>
            <a:prstDash val="solid"/>
          </a:ln>
        </p:spPr>
      </p:sp>
      <p:sp>
        <p:nvSpPr>
          <p:cNvPr id="12" name="Failure stat 3"/>
          <p:cNvSpPr txBox="1"/>
          <p:nvPr/>
        </p:nvSpPr>
        <p:spPr>
          <a:xfrm>
            <a:off x="777240" y="4069080"/>
            <a:ext cx="1737360" cy="1828800"/>
          </a:xfrm>
          <a:prstGeom prst="rect">
            <a:avLst/>
          </a:prstGeom>
          <a:noFill/>
          <a:ln/>
        </p:spPr>
        <p:txBody>
          <a:bodyPr wrap="square" lIns="0" tIns="0" rIns="0" bIns="0" rtlCol="0" anchor="ctr"/>
          <a:lstStyle/>
          <a:p>
            <a:pPr algn="ctr" indent="0" marL="0">
              <a:buNone/>
            </a:pPr>
            <a:r>
              <a:rPr lang="en-US" sz="4000" b="1" dirty="0">
                <a:solidFill>
                  <a:schemeClr val="accent2"/>
                </a:solidFill>
              </a:rPr>
              <a:t>18 s</a:t>
            </a:r>
            <a:endParaRPr lang="en-US" sz="4000" dirty="0"/>
          </a:p>
        </p:txBody>
      </p:sp>
      <p:sp>
        <p:nvSpPr>
          <p:cNvPr id="13" name="Failure title 3"/>
          <p:cNvSpPr txBox="1"/>
          <p:nvPr/>
        </p:nvSpPr>
        <p:spPr>
          <a:xfrm>
            <a:off x="2697480" y="4142232"/>
            <a:ext cx="3063240" cy="457200"/>
          </a:xfrm>
          <a:prstGeom prst="rect">
            <a:avLst/>
          </a:prstGeom>
          <a:noFill/>
          <a:ln/>
        </p:spPr>
        <p:txBody>
          <a:bodyPr wrap="square" lIns="0" tIns="0" rIns="0" bIns="0" rtlCol="0" anchor="ctr"/>
          <a:lstStyle/>
          <a:p>
            <a:pPr indent="0" marL="0">
              <a:buNone/>
            </a:pPr>
            <a:r>
              <a:rPr lang="en-US" sz="1900" b="1" dirty="0">
                <a:solidFill>
                  <a:schemeClr val="tx1"/>
                </a:solidFill>
              </a:rPr>
              <a:t>Blind to motion</a:t>
            </a:r>
            <a:endParaRPr lang="en-US" sz="1900" dirty="0"/>
          </a:p>
        </p:txBody>
      </p:sp>
      <p:sp>
        <p:nvSpPr>
          <p:cNvPr id="14" name="Failure text 3"/>
          <p:cNvSpPr txBox="1"/>
          <p:nvPr/>
        </p:nvSpPr>
        <p:spPr>
          <a:xfrm>
            <a:off x="2697480" y="4663440"/>
            <a:ext cx="3063240" cy="1234440"/>
          </a:xfrm>
          <a:prstGeom prst="rect">
            <a:avLst/>
          </a:prstGeom>
          <a:noFill/>
          <a:ln/>
        </p:spPr>
        <p:txBody>
          <a:bodyPr wrap="square" lIns="0" tIns="0" rIns="0" bIns="0" rtlCol="0" anchor="t"/>
          <a:lstStyle/>
          <a:p>
            <a:pPr indent="0" marL="0">
              <a:buNone/>
            </a:pPr>
            <a:r>
              <a:rPr lang="en-US" sz="1400" dirty="0">
                <a:solidFill>
                  <a:schemeClr val="tx2"/>
                </a:solidFill>
              </a:rPr>
              <a:t>Frame sequences gave wrong answers. Now motion is measured in code and the model names the thing.</a:t>
            </a:r>
            <a:endParaRPr lang="en-US" sz="1400" dirty="0"/>
          </a:p>
        </p:txBody>
      </p:sp>
      <p:sp>
        <p:nvSpPr>
          <p:cNvPr id="15" name="Failure card 4"/>
          <p:cNvSpPr/>
          <p:nvPr/>
        </p:nvSpPr>
        <p:spPr>
          <a:xfrm>
            <a:off x="6199632" y="3886200"/>
            <a:ext cx="5440680" cy="2194560"/>
          </a:xfrm>
          <a:prstGeom prst="roundRect">
            <a:avLst>
              <a:gd name="adj" fmla="val 5000"/>
            </a:avLst>
          </a:prstGeom>
          <a:solidFill>
            <a:schemeClr val="bg2"/>
          </a:solidFill>
          <a:ln w="12700">
            <a:solidFill>
              <a:schemeClr val="accent6"/>
            </a:solidFill>
            <a:prstDash val="solid"/>
          </a:ln>
        </p:spPr>
      </p:sp>
      <p:sp>
        <p:nvSpPr>
          <p:cNvPr id="16" name="Failure stat 4"/>
          <p:cNvSpPr txBox="1"/>
          <p:nvPr/>
        </p:nvSpPr>
        <p:spPr>
          <a:xfrm>
            <a:off x="6428232" y="4069080"/>
            <a:ext cx="1737360" cy="1828800"/>
          </a:xfrm>
          <a:prstGeom prst="rect">
            <a:avLst/>
          </a:prstGeom>
          <a:noFill/>
          <a:ln/>
        </p:spPr>
        <p:txBody>
          <a:bodyPr wrap="square" lIns="0" tIns="0" rIns="0" bIns="0" rtlCol="0" anchor="ctr"/>
          <a:lstStyle/>
          <a:p>
            <a:pPr algn="ctr" indent="0" marL="0">
              <a:buNone/>
            </a:pPr>
            <a:r>
              <a:rPr lang="en-US" sz="4000" b="1" dirty="0">
                <a:solidFill>
                  <a:schemeClr val="accent2"/>
                </a:solidFill>
              </a:rPr>
              <a:t>0/8</a:t>
            </a:r>
            <a:endParaRPr lang="en-US" sz="4000" dirty="0"/>
          </a:p>
        </p:txBody>
      </p:sp>
      <p:sp>
        <p:nvSpPr>
          <p:cNvPr id="17" name="Failure title 4"/>
          <p:cNvSpPr txBox="1"/>
          <p:nvPr/>
        </p:nvSpPr>
        <p:spPr>
          <a:xfrm>
            <a:off x="8348472" y="4142232"/>
            <a:ext cx="3063240" cy="457200"/>
          </a:xfrm>
          <a:prstGeom prst="rect">
            <a:avLst/>
          </a:prstGeom>
          <a:noFill/>
          <a:ln/>
        </p:spPr>
        <p:txBody>
          <a:bodyPr wrap="square" lIns="0" tIns="0" rIns="0" bIns="0" rtlCol="0" anchor="ctr"/>
          <a:lstStyle/>
          <a:p>
            <a:pPr indent="0" marL="0">
              <a:buNone/>
            </a:pPr>
            <a:r>
              <a:rPr lang="en-US" sz="1900" b="1" dirty="0">
                <a:solidFill>
                  <a:schemeClr val="tx1"/>
                </a:solidFill>
              </a:rPr>
              <a:t>Newer was worse</a:t>
            </a:r>
            <a:endParaRPr lang="en-US" sz="1900" dirty="0"/>
          </a:p>
        </p:txBody>
      </p:sp>
      <p:sp>
        <p:nvSpPr>
          <p:cNvPr id="18" name="Failure text 4"/>
          <p:cNvSpPr txBox="1"/>
          <p:nvPr/>
        </p:nvSpPr>
        <p:spPr>
          <a:xfrm>
            <a:off x="8348472" y="4663440"/>
            <a:ext cx="3063240" cy="1234440"/>
          </a:xfrm>
          <a:prstGeom prst="rect">
            <a:avLst/>
          </a:prstGeom>
          <a:noFill/>
          <a:ln/>
        </p:spPr>
        <p:txBody>
          <a:bodyPr wrap="square" lIns="0" tIns="0" rIns="0" bIns="0" rtlCol="0" anchor="t"/>
          <a:lstStyle/>
          <a:p>
            <a:pPr indent="0" marL="0">
              <a:buNone/>
            </a:pPr>
            <a:r>
              <a:rPr lang="en-US" sz="1400" dirty="0">
                <a:solidFill>
                  <a:schemeClr val="tx2"/>
                </a:solidFill>
              </a:rPr>
              <a:t>Qwen3-VL 8B scored 0 of 8 on real photos and was 6× slower. I kept Qwen2.5-VL.</a:t>
            </a:r>
            <a:endParaRPr lang="en-US" sz="1400" dirty="0"/>
          </a:p>
        </p:txBody>
      </p:sp>
      <p:sp>
        <p:nvSpPr>
          <p:cNvPr id="25" name="Slide Number Placeholder 0"/>
          <p:cNvSpPr>
            <a:spLocks noGrp="1"/>
          </p:cNvSpPr>
          <p:nvPr>
            <p:ph type="sldNum" sz="quarter" idx="4294967295"/>
          </p:nvPr>
        </p:nvSpPr>
        <p:spPr>
          <a:xfrm>
            <a:off x="11064240" y="6400800"/>
            <a:ext cx="576072"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8B93A1"/>
                </a:solidFill>
              </a:defRPr>
            </a:lvl1pPr>
          </a:lstStyle>
          <a:p>
            <a:pPr algn="l"/>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1091672" cy="868680"/>
          </a:xfrm>
          <a:prstGeom prst="rect">
            <a:avLst/>
          </a:prstGeom>
          <a:noFill/>
          <a:ln/>
        </p:spPr>
        <p:txBody>
          <a:bodyPr wrap="square" lIns="0" tIns="0" rIns="0" bIns="0" rtlCol="0" anchor="ctr"/>
          <a:lstStyle/>
          <a:p>
            <a:pPr algn="l" indent="0" marL="0">
              <a:buNone/>
            </a:pPr>
            <a:r>
              <a:rPr lang="en-US" sz="3400" b="1" dirty="0">
                <a:solidFill>
                  <a:schemeClr val="tx1"/>
                </a:solidFill>
              </a:rPr>
              <a:t>Results: teaching fixes naming</a:t>
            </a:r>
            <a:endParaRPr lang="en-US" sz="3400" dirty="0"/>
          </a:p>
        </p:txBody>
      </p:sp>
      <p:sp>
        <p:nvSpPr>
          <p:cNvPr id="3" name="Chart panel"/>
          <p:cNvSpPr/>
          <p:nvPr/>
        </p:nvSpPr>
        <p:spPr>
          <a:xfrm>
            <a:off x="548640" y="1417320"/>
            <a:ext cx="5897880" cy="4434840"/>
          </a:xfrm>
          <a:prstGeom prst="roundRect">
            <a:avLst>
              <a:gd name="adj" fmla="val 2474"/>
            </a:avLst>
          </a:prstGeom>
          <a:solidFill>
            <a:schemeClr val="bg2"/>
          </a:solidFill>
          <a:ln w="12700">
            <a:solidFill>
              <a:schemeClr val="accent6"/>
            </a:solidFill>
            <a:prstDash val="solid"/>
          </a:ln>
        </p:spPr>
      </p:sp>
      <p:graphicFrame>
        <p:nvGraphicFramePr>
          <p:cNvPr id="4" name="Chart 0" descr=""/>
          <p:cNvGraphicFramePr/>
          <p:nvPr/>
        </p:nvGraphicFramePr>
        <p:xfrm>
          <a:off x="685800" y="1508760"/>
          <a:ext cx="5623560" cy="4251960"/>
        </p:xfrm>
        <a:graphic xmlns:a="http://schemas.openxmlformats.org/drawingml/2006/main">
          <a:graphicData uri="http://schemas.openxmlformats.org/drawingml/2006/chart">
            <c:chart xmlns:c="http://schemas.openxmlformats.org/drawingml/2006/chart" r:id="rId1"/>
          </a:graphicData>
        </a:graphic>
      </p:graphicFrame>
      <p:sp>
        <p:nvSpPr>
          <p:cNvPr id="5" name="Result tile 1"/>
          <p:cNvSpPr/>
          <p:nvPr/>
        </p:nvSpPr>
        <p:spPr>
          <a:xfrm>
            <a:off x="6675120" y="1417320"/>
            <a:ext cx="2377440" cy="2148840"/>
          </a:xfrm>
          <a:prstGeom prst="roundRect">
            <a:avLst>
              <a:gd name="adj" fmla="val 5106"/>
            </a:avLst>
          </a:prstGeom>
          <a:solidFill>
            <a:schemeClr val="bg2"/>
          </a:solidFill>
          <a:ln w="12700">
            <a:solidFill>
              <a:schemeClr val="accent6"/>
            </a:solidFill>
            <a:prstDash val="solid"/>
          </a:ln>
        </p:spPr>
      </p:sp>
      <p:sp>
        <p:nvSpPr>
          <p:cNvPr id="6" name="Result value 1"/>
          <p:cNvSpPr txBox="1"/>
          <p:nvPr/>
        </p:nvSpPr>
        <p:spPr>
          <a:xfrm>
            <a:off x="6858000" y="1645920"/>
            <a:ext cx="2011680" cy="868680"/>
          </a:xfrm>
          <a:prstGeom prst="rect">
            <a:avLst/>
          </a:prstGeom>
          <a:noFill/>
          <a:ln/>
        </p:spPr>
        <p:txBody>
          <a:bodyPr wrap="square" lIns="0" tIns="0" rIns="0" bIns="0" rtlCol="0" anchor="ctr"/>
          <a:lstStyle/>
          <a:p>
            <a:pPr indent="0" marL="0">
              <a:buNone/>
            </a:pPr>
            <a:r>
              <a:rPr lang="en-US" sz="3400" b="1" dirty="0">
                <a:solidFill>
                  <a:schemeClr val="accent1"/>
                </a:solidFill>
              </a:rPr>
              <a:t>0.96</a:t>
            </a:r>
            <a:endParaRPr lang="en-US" sz="3400" dirty="0"/>
          </a:p>
        </p:txBody>
      </p:sp>
      <p:sp>
        <p:nvSpPr>
          <p:cNvPr id="7" name="Result label 1"/>
          <p:cNvSpPr txBox="1"/>
          <p:nvPr/>
        </p:nvSpPr>
        <p:spPr>
          <a:xfrm>
            <a:off x="6858000" y="2606040"/>
            <a:ext cx="2011680" cy="822960"/>
          </a:xfrm>
          <a:prstGeom prst="rect">
            <a:avLst/>
          </a:prstGeom>
          <a:noFill/>
          <a:ln/>
        </p:spPr>
        <p:txBody>
          <a:bodyPr wrap="square" lIns="0" tIns="0" rIns="0" bIns="0" rtlCol="0" anchor="t"/>
          <a:lstStyle/>
          <a:p>
            <a:pPr indent="0" marL="0">
              <a:buNone/>
            </a:pPr>
            <a:r>
              <a:rPr lang="en-US" sz="1400" dirty="0">
                <a:solidFill>
                  <a:schemeClr val="tx1"/>
                </a:solidFill>
              </a:rPr>
              <a:t>grounding IoU: boxes land on the object</a:t>
            </a:r>
            <a:endParaRPr lang="en-US" sz="1400" dirty="0"/>
          </a:p>
        </p:txBody>
      </p:sp>
      <p:sp>
        <p:nvSpPr>
          <p:cNvPr id="8" name="Result tile 2"/>
          <p:cNvSpPr/>
          <p:nvPr/>
        </p:nvSpPr>
        <p:spPr>
          <a:xfrm>
            <a:off x="9262872" y="1417320"/>
            <a:ext cx="2377440" cy="2148840"/>
          </a:xfrm>
          <a:prstGeom prst="roundRect">
            <a:avLst>
              <a:gd name="adj" fmla="val 5106"/>
            </a:avLst>
          </a:prstGeom>
          <a:solidFill>
            <a:schemeClr val="bg2"/>
          </a:solidFill>
          <a:ln w="12700">
            <a:solidFill>
              <a:schemeClr val="accent6"/>
            </a:solidFill>
            <a:prstDash val="solid"/>
          </a:ln>
        </p:spPr>
      </p:sp>
      <p:sp>
        <p:nvSpPr>
          <p:cNvPr id="9" name="Result value 2"/>
          <p:cNvSpPr txBox="1"/>
          <p:nvPr/>
        </p:nvSpPr>
        <p:spPr>
          <a:xfrm>
            <a:off x="9445752" y="1645920"/>
            <a:ext cx="2011680" cy="868680"/>
          </a:xfrm>
          <a:prstGeom prst="rect">
            <a:avLst/>
          </a:prstGeom>
          <a:noFill/>
          <a:ln/>
        </p:spPr>
        <p:txBody>
          <a:bodyPr wrap="square" lIns="0" tIns="0" rIns="0" bIns="0" rtlCol="0" anchor="ctr"/>
          <a:lstStyle/>
          <a:p>
            <a:pPr indent="0" marL="0">
              <a:buNone/>
            </a:pPr>
            <a:r>
              <a:rPr lang="en-US" sz="3400" b="1" dirty="0">
                <a:solidFill>
                  <a:schemeClr val="accent1"/>
                </a:solidFill>
              </a:rPr>
              <a:t>0 / 10</a:t>
            </a:r>
            <a:endParaRPr lang="en-US" sz="3400" dirty="0"/>
          </a:p>
        </p:txBody>
      </p:sp>
      <p:sp>
        <p:nvSpPr>
          <p:cNvPr id="10" name="Result label 2"/>
          <p:cNvSpPr txBox="1"/>
          <p:nvPr/>
        </p:nvSpPr>
        <p:spPr>
          <a:xfrm>
            <a:off x="9445752" y="2606040"/>
            <a:ext cx="2011680" cy="822960"/>
          </a:xfrm>
          <a:prstGeom prst="rect">
            <a:avLst/>
          </a:prstGeom>
          <a:noFill/>
          <a:ln/>
        </p:spPr>
        <p:txBody>
          <a:bodyPr wrap="square" lIns="0" tIns="0" rIns="0" bIns="0" rtlCol="0" anchor="t"/>
          <a:lstStyle/>
          <a:p>
            <a:pPr indent="0" marL="0">
              <a:buNone/>
            </a:pPr>
            <a:r>
              <a:rPr lang="en-US" sz="1400" dirty="0">
                <a:solidFill>
                  <a:schemeClr val="tx1"/>
                </a:solidFill>
              </a:rPr>
              <a:t>false claims in the photo-matching tests</a:t>
            </a:r>
            <a:endParaRPr lang="en-US" sz="1400" dirty="0"/>
          </a:p>
        </p:txBody>
      </p:sp>
      <p:sp>
        <p:nvSpPr>
          <p:cNvPr id="11" name="Result tile 3"/>
          <p:cNvSpPr/>
          <p:nvPr/>
        </p:nvSpPr>
        <p:spPr>
          <a:xfrm>
            <a:off x="6675120" y="3703320"/>
            <a:ext cx="2377440" cy="2148840"/>
          </a:xfrm>
          <a:prstGeom prst="roundRect">
            <a:avLst>
              <a:gd name="adj" fmla="val 5106"/>
            </a:avLst>
          </a:prstGeom>
          <a:solidFill>
            <a:schemeClr val="bg2"/>
          </a:solidFill>
          <a:ln w="12700">
            <a:solidFill>
              <a:schemeClr val="accent6"/>
            </a:solidFill>
            <a:prstDash val="solid"/>
          </a:ln>
        </p:spPr>
      </p:sp>
      <p:sp>
        <p:nvSpPr>
          <p:cNvPr id="12" name="Result value 3"/>
          <p:cNvSpPr txBox="1"/>
          <p:nvPr/>
        </p:nvSpPr>
        <p:spPr>
          <a:xfrm>
            <a:off x="6858000" y="3931920"/>
            <a:ext cx="2011680" cy="868680"/>
          </a:xfrm>
          <a:prstGeom prst="rect">
            <a:avLst/>
          </a:prstGeom>
          <a:noFill/>
          <a:ln/>
        </p:spPr>
        <p:txBody>
          <a:bodyPr wrap="square" lIns="0" tIns="0" rIns="0" bIns="0" rtlCol="0" anchor="ctr"/>
          <a:lstStyle/>
          <a:p>
            <a:pPr indent="0" marL="0">
              <a:buNone/>
            </a:pPr>
            <a:r>
              <a:rPr lang="en-US" sz="3400" b="1" dirty="0">
                <a:solidFill>
                  <a:schemeClr val="accent1"/>
                </a:solidFill>
              </a:rPr>
              <a:t>6 / 6</a:t>
            </a:r>
            <a:endParaRPr lang="en-US" sz="3400" dirty="0"/>
          </a:p>
        </p:txBody>
      </p:sp>
      <p:sp>
        <p:nvSpPr>
          <p:cNvPr id="13" name="Result label 3"/>
          <p:cNvSpPr txBox="1"/>
          <p:nvPr/>
        </p:nvSpPr>
        <p:spPr>
          <a:xfrm>
            <a:off x="6858000" y="4892040"/>
            <a:ext cx="2011680" cy="822960"/>
          </a:xfrm>
          <a:prstGeom prst="rect">
            <a:avLst/>
          </a:prstGeom>
          <a:noFill/>
          <a:ln/>
        </p:spPr>
        <p:txBody>
          <a:bodyPr wrap="square" lIns="0" tIns="0" rIns="0" bIns="0" rtlCol="0" anchor="t"/>
          <a:lstStyle/>
          <a:p>
            <a:pPr indent="0" marL="0">
              <a:buNone/>
            </a:pPr>
            <a:r>
              <a:rPr lang="en-US" sz="1400" dirty="0">
                <a:solidFill>
                  <a:schemeClr val="tx1"/>
                </a:solidFill>
              </a:rPr>
              <a:t>action tests passed (synthetic clips)</a:t>
            </a:r>
            <a:endParaRPr lang="en-US" sz="1400" dirty="0"/>
          </a:p>
        </p:txBody>
      </p:sp>
      <p:sp>
        <p:nvSpPr>
          <p:cNvPr id="14" name="Result tile 4"/>
          <p:cNvSpPr/>
          <p:nvPr/>
        </p:nvSpPr>
        <p:spPr>
          <a:xfrm>
            <a:off x="9262872" y="3703320"/>
            <a:ext cx="2377440" cy="2148840"/>
          </a:xfrm>
          <a:prstGeom prst="roundRect">
            <a:avLst>
              <a:gd name="adj" fmla="val 5106"/>
            </a:avLst>
          </a:prstGeom>
          <a:solidFill>
            <a:schemeClr val="bg2"/>
          </a:solidFill>
          <a:ln w="12700">
            <a:solidFill>
              <a:schemeClr val="accent6"/>
            </a:solidFill>
            <a:prstDash val="solid"/>
          </a:ln>
        </p:spPr>
      </p:sp>
      <p:sp>
        <p:nvSpPr>
          <p:cNvPr id="15" name="Result value 4"/>
          <p:cNvSpPr txBox="1"/>
          <p:nvPr/>
        </p:nvSpPr>
        <p:spPr>
          <a:xfrm>
            <a:off x="9445752" y="3931920"/>
            <a:ext cx="2011680" cy="868680"/>
          </a:xfrm>
          <a:prstGeom prst="rect">
            <a:avLst/>
          </a:prstGeom>
          <a:noFill/>
          <a:ln/>
        </p:spPr>
        <p:txBody>
          <a:bodyPr wrap="square" lIns="0" tIns="0" rIns="0" bIns="0" rtlCol="0" anchor="ctr"/>
          <a:lstStyle/>
          <a:p>
            <a:pPr indent="0" marL="0">
              <a:buNone/>
            </a:pPr>
            <a:r>
              <a:rPr lang="en-US" sz="3400" b="1" dirty="0">
                <a:solidFill>
                  <a:schemeClr val="accent1"/>
                </a:solidFill>
              </a:rPr>
              <a:t>4% → 0%</a:t>
            </a:r>
            <a:endParaRPr lang="en-US" sz="3400" dirty="0"/>
          </a:p>
        </p:txBody>
      </p:sp>
      <p:sp>
        <p:nvSpPr>
          <p:cNvPr id="16" name="Result label 4"/>
          <p:cNvSpPr txBox="1"/>
          <p:nvPr/>
        </p:nvSpPr>
        <p:spPr>
          <a:xfrm>
            <a:off x="9445752" y="4892040"/>
            <a:ext cx="2011680" cy="822960"/>
          </a:xfrm>
          <a:prstGeom prst="rect">
            <a:avLst/>
          </a:prstGeom>
          <a:noFill/>
          <a:ln/>
        </p:spPr>
        <p:txBody>
          <a:bodyPr wrap="square" lIns="0" tIns="0" rIns="0" bIns="0" rtlCol="0" anchor="t"/>
          <a:lstStyle/>
          <a:p>
            <a:pPr indent="0" marL="0">
              <a:buNone/>
            </a:pPr>
            <a:r>
              <a:rPr lang="en-US" sz="1400" dirty="0">
                <a:solidFill>
                  <a:schemeClr val="tx1"/>
                </a:solidFill>
              </a:rPr>
              <a:t>offline speech errors with taught-name hints</a:t>
            </a:r>
            <a:endParaRPr lang="en-US" sz="1400" dirty="0"/>
          </a:p>
        </p:txBody>
      </p:sp>
      <p:sp>
        <p:nvSpPr>
          <p:cNvPr id="17" name="Results caveat"/>
          <p:cNvSpPr txBox="1"/>
          <p:nvPr/>
        </p:nvSpPr>
        <p:spPr>
          <a:xfrm>
            <a:off x="548640" y="5943600"/>
            <a:ext cx="10424160" cy="320040"/>
          </a:xfrm>
          <a:prstGeom prst="rect">
            <a:avLst/>
          </a:prstGeom>
          <a:noFill/>
          <a:ln/>
        </p:spPr>
        <p:txBody>
          <a:bodyPr wrap="square" lIns="0" tIns="0" rIns="0" bIns="0" rtlCol="0" anchor="ctr"/>
          <a:lstStyle/>
          <a:p>
            <a:pPr indent="0" marL="0">
              <a:buNone/>
            </a:pPr>
            <a:r>
              <a:rPr lang="en-US" sz="1200" dirty="0">
                <a:solidFill>
                  <a:schemeClr val="tx2"/>
                </a:solidFill>
              </a:rPr>
              <a:t>Small samples: 8 real photos of 2 objects. Actions and speech were tested on synthetic input.</a:t>
            </a:r>
            <a:endParaRPr lang="en-US" sz="1200" dirty="0"/>
          </a:p>
        </p:txBody>
      </p:sp>
      <p:sp>
        <p:nvSpPr>
          <p:cNvPr id="25" name="Slide Number Placeholder 0"/>
          <p:cNvSpPr>
            <a:spLocks noGrp="1"/>
          </p:cNvSpPr>
          <p:nvPr>
            <p:ph type="sldNum" sz="quarter" idx="4294967295"/>
          </p:nvPr>
        </p:nvSpPr>
        <p:spPr>
          <a:xfrm>
            <a:off x="11064240" y="6400800"/>
            <a:ext cx="576072"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8B93A1"/>
                </a:solidFill>
              </a:defRPr>
            </a:lvl1pPr>
          </a:lstStyle>
          <a:p>
            <a:pPr algn="l"/>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1091672" cy="868680"/>
          </a:xfrm>
          <a:prstGeom prst="rect">
            <a:avLst/>
          </a:prstGeom>
          <a:noFill/>
          <a:ln/>
        </p:spPr>
        <p:txBody>
          <a:bodyPr wrap="square" lIns="0" tIns="0" rIns="0" bIns="0" rtlCol="0" anchor="ctr"/>
          <a:lstStyle/>
          <a:p>
            <a:pPr algn="l" indent="0" marL="0">
              <a:buNone/>
            </a:pPr>
            <a:r>
              <a:rPr lang="en-US" sz="3400" b="1" dirty="0">
                <a:solidFill>
                  <a:schemeClr val="tx1"/>
                </a:solidFill>
              </a:rPr>
              <a:t>Honest limits, and what is next</a:t>
            </a:r>
            <a:endParaRPr lang="en-US" sz="3400" dirty="0"/>
          </a:p>
        </p:txBody>
      </p:sp>
      <p:sp>
        <p:nvSpPr>
          <p:cNvPr id="3" name="Column card 1"/>
          <p:cNvSpPr/>
          <p:nvPr/>
        </p:nvSpPr>
        <p:spPr>
          <a:xfrm>
            <a:off x="548640" y="1463040"/>
            <a:ext cx="5440680" cy="4480560"/>
          </a:xfrm>
          <a:prstGeom prst="roundRect">
            <a:avLst>
              <a:gd name="adj" fmla="val 2449"/>
            </a:avLst>
          </a:prstGeom>
          <a:solidFill>
            <a:schemeClr val="bg2"/>
          </a:solidFill>
          <a:ln w="12700">
            <a:solidFill>
              <a:schemeClr val="accent6"/>
            </a:solidFill>
            <a:prstDash val="solid"/>
          </a:ln>
        </p:spPr>
      </p:sp>
      <p:sp>
        <p:nvSpPr>
          <p:cNvPr id="4" name="Column icon disc 1"/>
          <p:cNvSpPr/>
          <p:nvPr/>
        </p:nvSpPr>
        <p:spPr>
          <a:xfrm>
            <a:off x="868680" y="1737360"/>
            <a:ext cx="640080" cy="640080"/>
          </a:xfrm>
          <a:prstGeom prst="ellipse">
            <a:avLst/>
          </a:prstGeom>
          <a:solidFill>
            <a:schemeClr val="accent2"/>
          </a:solidFill>
          <a:ln/>
        </p:spPr>
      </p:sp>
      <p:pic>
        <p:nvPicPr>
          <p:cNvPr id="5" name="Image 0" descr="Limits icon">    </p:cNvPr>
          <p:cNvPicPr>
            <a:picLocks noChangeAspect="1"/>
          </p:cNvPicPr>
          <p:nvPr/>
        </p:nvPicPr>
        <p:blipFill>
          <a:blip r:embed="rId1"/>
          <a:stretch>
            <a:fillRect/>
          </a:stretch>
        </p:blipFill>
        <p:spPr>
          <a:xfrm>
            <a:off x="1024128" y="1892808"/>
            <a:ext cx="329184" cy="329184"/>
          </a:xfrm>
          <a:prstGeom prst="rect">
            <a:avLst/>
          </a:prstGeom>
        </p:spPr>
      </p:pic>
      <p:sp>
        <p:nvSpPr>
          <p:cNvPr id="6" name="Column title 1"/>
          <p:cNvSpPr txBox="1"/>
          <p:nvPr/>
        </p:nvSpPr>
        <p:spPr>
          <a:xfrm>
            <a:off x="1691640" y="1737360"/>
            <a:ext cx="3657600" cy="640080"/>
          </a:xfrm>
          <a:prstGeom prst="rect">
            <a:avLst/>
          </a:prstGeom>
          <a:noFill/>
          <a:ln/>
        </p:spPr>
        <p:txBody>
          <a:bodyPr wrap="square" lIns="0" tIns="0" rIns="0" bIns="0" rtlCol="0" anchor="ctr"/>
          <a:lstStyle/>
          <a:p>
            <a:pPr indent="0" marL="0">
              <a:buNone/>
            </a:pPr>
            <a:r>
              <a:rPr lang="en-US" sz="2600" b="1" dirty="0">
                <a:solidFill>
                  <a:schemeClr val="tx1"/>
                </a:solidFill>
              </a:rPr>
              <a:t>Limits</a:t>
            </a:r>
            <a:endParaRPr lang="en-US" sz="2600" dirty="0"/>
          </a:p>
        </p:txBody>
      </p:sp>
      <p:sp>
        <p:nvSpPr>
          <p:cNvPr id="7" name="Column list 1"/>
          <p:cNvSpPr txBox="1"/>
          <p:nvPr/>
        </p:nvSpPr>
        <p:spPr>
          <a:xfrm>
            <a:off x="914400" y="2697480"/>
            <a:ext cx="4754880" cy="3017520"/>
          </a:xfrm>
          <a:prstGeom prst="rect">
            <a:avLst/>
          </a:prstGeom>
          <a:noFill/>
          <a:ln/>
        </p:spPr>
        <p:txBody>
          <a:bodyPr wrap="square" lIns="0" tIns="0" rIns="0" bIns="0" rtlCol="0" anchor="t"/>
          <a:lstStyle/>
          <a:p>
            <a:pPr marL="342900" indent="-342900">
              <a:spcAft>
                <a:spcPts val="1200"/>
              </a:spcAft>
              <a:buSzPct val="100000"/>
              <a:buChar char="•"/>
            </a:pPr>
            <a:r>
              <a:rPr lang="en-US" sz="2000" dirty="0">
                <a:solidFill>
                  <a:schemeClr val="tx1"/>
                </a:solidFill>
              </a:rPr>
              <a:t>Real-object evidence is 8 photos of 2 objects</a:t>
            </a:r>
            <a:endParaRPr lang="en-US" sz="2000" dirty="0"/>
          </a:p>
          <a:p>
            <a:pPr marL="342900" indent="-342900">
              <a:spcAft>
                <a:spcPts val="1200"/>
              </a:spcAft>
              <a:buSzPct val="100000"/>
              <a:buChar char="•"/>
            </a:pPr>
            <a:r>
              <a:rPr lang="en-US" sz="2000" dirty="0">
                <a:solidFill>
                  <a:schemeClr val="tx1"/>
                </a:solidFill>
              </a:rPr>
              <a:t>A 7B model does not know niche hardware by name</a:t>
            </a:r>
            <a:endParaRPr lang="en-US" sz="2000" dirty="0"/>
          </a:p>
          <a:p>
            <a:pPr marL="342900" indent="-342900">
              <a:spcAft>
                <a:spcPts val="1200"/>
              </a:spcAft>
              <a:buSzPct val="100000"/>
              <a:buChar char="•"/>
            </a:pPr>
            <a:r>
              <a:rPr lang="en-US" sz="2000" dirty="0">
                <a:solidFill>
                  <a:schemeClr val="tx1"/>
                </a:solidFill>
              </a:rPr>
              <a:t>Action recognition is tested on synthetic clips only</a:t>
            </a:r>
            <a:endParaRPr lang="en-US" sz="2000" dirty="0"/>
          </a:p>
          <a:p>
            <a:pPr marL="342900" indent="-342900">
              <a:spcAft>
                <a:spcPts val="1200"/>
              </a:spcAft>
              <a:buSzPct val="100000"/>
              <a:buChar char="•"/>
            </a:pPr>
            <a:r>
              <a:rPr lang="en-US" sz="2000" dirty="0">
                <a:solidFill>
                  <a:schemeClr val="tx1"/>
                </a:solidFill>
              </a:rPr>
              <a:t>Labels track translation only, not scale</a:t>
            </a:r>
            <a:endParaRPr lang="en-US" sz="2000" dirty="0"/>
          </a:p>
        </p:txBody>
      </p:sp>
      <p:sp>
        <p:nvSpPr>
          <p:cNvPr id="8" name="Column card 2"/>
          <p:cNvSpPr/>
          <p:nvPr/>
        </p:nvSpPr>
        <p:spPr>
          <a:xfrm>
            <a:off x="6199632" y="1463040"/>
            <a:ext cx="5440680" cy="4480560"/>
          </a:xfrm>
          <a:prstGeom prst="roundRect">
            <a:avLst>
              <a:gd name="adj" fmla="val 2449"/>
            </a:avLst>
          </a:prstGeom>
          <a:solidFill>
            <a:schemeClr val="bg2"/>
          </a:solidFill>
          <a:ln w="12700">
            <a:solidFill>
              <a:schemeClr val="accent6"/>
            </a:solidFill>
            <a:prstDash val="solid"/>
          </a:ln>
        </p:spPr>
      </p:sp>
      <p:sp>
        <p:nvSpPr>
          <p:cNvPr id="9" name="Column icon disc 2"/>
          <p:cNvSpPr/>
          <p:nvPr/>
        </p:nvSpPr>
        <p:spPr>
          <a:xfrm>
            <a:off x="6519672" y="1737360"/>
            <a:ext cx="640080" cy="640080"/>
          </a:xfrm>
          <a:prstGeom prst="ellipse">
            <a:avLst/>
          </a:prstGeom>
          <a:solidFill>
            <a:schemeClr val="accent1"/>
          </a:solidFill>
          <a:ln/>
        </p:spPr>
      </p:sp>
      <p:pic>
        <p:nvPicPr>
          <p:cNvPr id="10" name="Image 1" descr="Next icon">    </p:cNvPr>
          <p:cNvPicPr>
            <a:picLocks noChangeAspect="1"/>
          </p:cNvPicPr>
          <p:nvPr/>
        </p:nvPicPr>
        <p:blipFill>
          <a:blip r:embed="rId2"/>
          <a:stretch>
            <a:fillRect/>
          </a:stretch>
        </p:blipFill>
        <p:spPr>
          <a:xfrm>
            <a:off x="6675120" y="1892808"/>
            <a:ext cx="329184" cy="329184"/>
          </a:xfrm>
          <a:prstGeom prst="rect">
            <a:avLst/>
          </a:prstGeom>
        </p:spPr>
      </p:pic>
      <p:sp>
        <p:nvSpPr>
          <p:cNvPr id="11" name="Column title 2"/>
          <p:cNvSpPr txBox="1"/>
          <p:nvPr/>
        </p:nvSpPr>
        <p:spPr>
          <a:xfrm>
            <a:off x="7342632" y="1737360"/>
            <a:ext cx="3657600" cy="640080"/>
          </a:xfrm>
          <a:prstGeom prst="rect">
            <a:avLst/>
          </a:prstGeom>
          <a:noFill/>
          <a:ln/>
        </p:spPr>
        <p:txBody>
          <a:bodyPr wrap="square" lIns="0" tIns="0" rIns="0" bIns="0" rtlCol="0" anchor="ctr"/>
          <a:lstStyle/>
          <a:p>
            <a:pPr indent="0" marL="0">
              <a:buNone/>
            </a:pPr>
            <a:r>
              <a:rPr lang="en-US" sz="2600" b="1" dirty="0">
                <a:solidFill>
                  <a:schemeClr val="tx1"/>
                </a:solidFill>
              </a:rPr>
              <a:t>Next</a:t>
            </a:r>
            <a:endParaRPr lang="en-US" sz="2600" dirty="0"/>
          </a:p>
        </p:txBody>
      </p:sp>
      <p:sp>
        <p:nvSpPr>
          <p:cNvPr id="12" name="Column list 2"/>
          <p:cNvSpPr txBox="1"/>
          <p:nvPr/>
        </p:nvSpPr>
        <p:spPr>
          <a:xfrm>
            <a:off x="6565392" y="2697480"/>
            <a:ext cx="4754880" cy="3017520"/>
          </a:xfrm>
          <a:prstGeom prst="rect">
            <a:avLst/>
          </a:prstGeom>
          <a:noFill/>
          <a:ln/>
        </p:spPr>
        <p:txBody>
          <a:bodyPr wrap="square" lIns="0" tIns="0" rIns="0" bIns="0" rtlCol="0" anchor="t"/>
          <a:lstStyle/>
          <a:p>
            <a:pPr marL="342900" indent="-342900">
              <a:spcAft>
                <a:spcPts val="1200"/>
              </a:spcAft>
              <a:buSzPct val="100000"/>
              <a:buChar char="•"/>
            </a:pPr>
            <a:r>
              <a:rPr lang="en-US" sz="2000" dirty="0">
                <a:solidFill>
                  <a:schemeClr val="tx1"/>
                </a:solidFill>
              </a:rPr>
              <a:t>Tune motion thresholds on real webcam clips</a:t>
            </a:r>
            <a:endParaRPr lang="en-US" sz="2000" dirty="0"/>
          </a:p>
          <a:p>
            <a:pPr marL="342900" indent="-342900">
              <a:spcAft>
                <a:spcPts val="1200"/>
              </a:spcAft>
              <a:buSzPct val="100000"/>
              <a:buChar char="•"/>
            </a:pPr>
            <a:r>
              <a:rPr lang="en-US" sz="2000" dirty="0">
                <a:solidFill>
                  <a:schemeClr val="tx1"/>
                </a:solidFill>
              </a:rPr>
              <a:t>Recognise gestures from pose keypoints</a:t>
            </a:r>
            <a:endParaRPr lang="en-US" sz="2000" dirty="0"/>
          </a:p>
          <a:p>
            <a:pPr marL="342900" indent="-342900">
              <a:spcAft>
                <a:spcPts val="1200"/>
              </a:spcAft>
              <a:buSzPct val="100000"/>
              <a:buChar char="•"/>
            </a:pPr>
            <a:r>
              <a:rPr lang="en-US" sz="2000" dirty="0">
                <a:solidFill>
                  <a:schemeClr val="tx1"/>
                </a:solidFill>
              </a:rPr>
              <a:t>Try a larger or fine-tuned vision model</a:t>
            </a:r>
            <a:endParaRPr lang="en-US" sz="2000" dirty="0"/>
          </a:p>
          <a:p>
            <a:pPr marL="342900" indent="-342900">
              <a:spcAft>
                <a:spcPts val="1200"/>
              </a:spcAft>
              <a:buSzPct val="100000"/>
              <a:buChar char="•"/>
            </a:pPr>
            <a:r>
              <a:rPr lang="en-US" sz="2000" dirty="0">
                <a:solidFill>
                  <a:schemeClr val="tx1"/>
                </a:solidFill>
              </a:rPr>
              <a:t>Build a WebXR version for a Quest headset</a:t>
            </a:r>
            <a:endParaRPr lang="en-US" sz="2000" dirty="0"/>
          </a:p>
        </p:txBody>
      </p:sp>
      <p:sp>
        <p:nvSpPr>
          <p:cNvPr id="25" name="Slide Number Placeholder 0"/>
          <p:cNvSpPr>
            <a:spLocks noGrp="1"/>
          </p:cNvSpPr>
          <p:nvPr>
            <p:ph type="sldNum" sz="quarter" idx="4294967295"/>
          </p:nvPr>
        </p:nvSpPr>
        <p:spPr>
          <a:xfrm>
            <a:off x="11064240" y="6400800"/>
            <a:ext cx="576072"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8B93A1"/>
                </a:solidFill>
              </a:defRPr>
            </a:lvl1pPr>
          </a:lstStyle>
          <a:p>
            <a:pPr algn="l"/>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1091672" cy="868680"/>
          </a:xfrm>
          <a:prstGeom prst="rect">
            <a:avLst/>
          </a:prstGeom>
          <a:noFill/>
          <a:ln/>
        </p:spPr>
        <p:txBody>
          <a:bodyPr wrap="square" lIns="0" tIns="0" rIns="0" bIns="0" rtlCol="0" anchor="ctr"/>
          <a:lstStyle/>
          <a:p>
            <a:pPr algn="l" indent="0" marL="0">
              <a:buNone/>
            </a:pPr>
            <a:r>
              <a:rPr lang="en-US" sz="3400" b="1" dirty="0">
                <a:solidFill>
                  <a:schemeClr val="tx1"/>
                </a:solidFill>
              </a:rPr>
              <a:t>Takeaways</a:t>
            </a:r>
            <a:endParaRPr lang="en-US" sz="3400" dirty="0"/>
          </a:p>
        </p:txBody>
      </p:sp>
      <p:sp>
        <p:nvSpPr>
          <p:cNvPr id="3" name="Lesson number 1"/>
          <p:cNvSpPr txBox="1"/>
          <p:nvPr/>
        </p:nvSpPr>
        <p:spPr>
          <a:xfrm>
            <a:off x="548640" y="1463040"/>
            <a:ext cx="914400" cy="1005840"/>
          </a:xfrm>
          <a:prstGeom prst="rect">
            <a:avLst/>
          </a:prstGeom>
          <a:noFill/>
          <a:ln/>
        </p:spPr>
        <p:txBody>
          <a:bodyPr wrap="square" lIns="0" tIns="0" rIns="0" bIns="0" rtlCol="0" anchor="ctr"/>
          <a:lstStyle/>
          <a:p>
            <a:pPr indent="0" marL="0">
              <a:buNone/>
            </a:pPr>
            <a:r>
              <a:rPr lang="en-US" sz="5600" b="1" dirty="0">
                <a:solidFill>
                  <a:schemeClr val="accent1"/>
                </a:solidFill>
              </a:rPr>
              <a:t>1</a:t>
            </a:r>
            <a:endParaRPr lang="en-US" sz="5600" dirty="0"/>
          </a:p>
        </p:txBody>
      </p:sp>
      <p:sp>
        <p:nvSpPr>
          <p:cNvPr id="4" name="Lesson title 1"/>
          <p:cNvSpPr txBox="1"/>
          <p:nvPr/>
        </p:nvSpPr>
        <p:spPr>
          <a:xfrm>
            <a:off x="1600200" y="1481328"/>
            <a:ext cx="9966960" cy="502920"/>
          </a:xfrm>
          <a:prstGeom prst="rect">
            <a:avLst/>
          </a:prstGeom>
          <a:noFill/>
          <a:ln/>
        </p:spPr>
        <p:txBody>
          <a:bodyPr wrap="square" lIns="0" tIns="0" rIns="0" bIns="0" rtlCol="0" anchor="ctr"/>
          <a:lstStyle/>
          <a:p>
            <a:pPr indent="0" marL="0">
              <a:buNone/>
            </a:pPr>
            <a:r>
              <a:rPr lang="en-US" sz="2600" b="1" dirty="0">
                <a:solidFill>
                  <a:schemeClr val="tx1"/>
                </a:solidFill>
              </a:rPr>
              <a:t>Measure, do not assume</a:t>
            </a:r>
            <a:endParaRPr lang="en-US" sz="2600" dirty="0"/>
          </a:p>
        </p:txBody>
      </p:sp>
      <p:sp>
        <p:nvSpPr>
          <p:cNvPr id="5" name="Lesson text 1"/>
          <p:cNvSpPr txBox="1"/>
          <p:nvPr/>
        </p:nvSpPr>
        <p:spPr>
          <a:xfrm>
            <a:off x="1600200" y="2011680"/>
            <a:ext cx="9966960" cy="411480"/>
          </a:xfrm>
          <a:prstGeom prst="rect">
            <a:avLst/>
          </a:prstGeom>
          <a:noFill/>
          <a:ln/>
        </p:spPr>
        <p:txBody>
          <a:bodyPr wrap="square" lIns="0" tIns="0" rIns="0" bIns="0" rtlCol="0" anchor="t"/>
          <a:lstStyle/>
          <a:p>
            <a:pPr indent="0" marL="0">
              <a:buNone/>
            </a:pPr>
            <a:r>
              <a:rPr lang="en-US" sz="1600" dirty="0">
                <a:solidFill>
                  <a:schemeClr val="tx2"/>
                </a:solidFill>
              </a:rPr>
              <a:t>Every real problem (boxes, false matches, motion) showed up only in a number.</a:t>
            </a:r>
            <a:endParaRPr lang="en-US" sz="1600" dirty="0"/>
          </a:p>
        </p:txBody>
      </p:sp>
      <p:sp>
        <p:nvSpPr>
          <p:cNvPr id="6" name="Lesson number 2"/>
          <p:cNvSpPr txBox="1"/>
          <p:nvPr/>
        </p:nvSpPr>
        <p:spPr>
          <a:xfrm>
            <a:off x="548640" y="2651760"/>
            <a:ext cx="914400" cy="1005840"/>
          </a:xfrm>
          <a:prstGeom prst="rect">
            <a:avLst/>
          </a:prstGeom>
          <a:noFill/>
          <a:ln/>
        </p:spPr>
        <p:txBody>
          <a:bodyPr wrap="square" lIns="0" tIns="0" rIns="0" bIns="0" rtlCol="0" anchor="ctr"/>
          <a:lstStyle/>
          <a:p>
            <a:pPr indent="0" marL="0">
              <a:buNone/>
            </a:pPr>
            <a:r>
              <a:rPr lang="en-US" sz="5600" b="1" dirty="0">
                <a:solidFill>
                  <a:schemeClr val="accent1"/>
                </a:solidFill>
              </a:rPr>
              <a:t>2</a:t>
            </a:r>
            <a:endParaRPr lang="en-US" sz="5600" dirty="0"/>
          </a:p>
        </p:txBody>
      </p:sp>
      <p:sp>
        <p:nvSpPr>
          <p:cNvPr id="7" name="Lesson title 2"/>
          <p:cNvSpPr txBox="1"/>
          <p:nvPr/>
        </p:nvSpPr>
        <p:spPr>
          <a:xfrm>
            <a:off x="1600200" y="2670048"/>
            <a:ext cx="9966960" cy="502920"/>
          </a:xfrm>
          <a:prstGeom prst="rect">
            <a:avLst/>
          </a:prstGeom>
          <a:noFill/>
          <a:ln/>
        </p:spPr>
        <p:txBody>
          <a:bodyPr wrap="square" lIns="0" tIns="0" rIns="0" bIns="0" rtlCol="0" anchor="ctr"/>
          <a:lstStyle/>
          <a:p>
            <a:pPr indent="0" marL="0">
              <a:buNone/>
            </a:pPr>
            <a:r>
              <a:rPr lang="en-US" sz="2600" b="1" dirty="0">
                <a:solidFill>
                  <a:schemeClr val="tx1"/>
                </a:solidFill>
              </a:rPr>
              <a:t>Teaching beats swapping models</a:t>
            </a:r>
            <a:endParaRPr lang="en-US" sz="2600" dirty="0"/>
          </a:p>
        </p:txBody>
      </p:sp>
      <p:sp>
        <p:nvSpPr>
          <p:cNvPr id="8" name="Lesson text 2"/>
          <p:cNvSpPr txBox="1"/>
          <p:nvPr/>
        </p:nvSpPr>
        <p:spPr>
          <a:xfrm>
            <a:off x="1600200" y="3200400"/>
            <a:ext cx="9966960" cy="411480"/>
          </a:xfrm>
          <a:prstGeom prst="rect">
            <a:avLst/>
          </a:prstGeom>
          <a:noFill/>
          <a:ln/>
        </p:spPr>
        <p:txBody>
          <a:bodyPr wrap="square" lIns="0" tIns="0" rIns="0" bIns="0" rtlCol="0" anchor="t"/>
          <a:lstStyle/>
          <a:p>
            <a:pPr indent="0" marL="0">
              <a:buNone/>
            </a:pPr>
            <a:r>
              <a:rPr lang="en-US" sz="1600" dirty="0">
                <a:solidFill>
                  <a:schemeClr val="tx2"/>
                </a:solidFill>
              </a:rPr>
              <a:t>One photo fixed what a newer, bigger model did not.</a:t>
            </a:r>
            <a:endParaRPr lang="en-US" sz="1600" dirty="0"/>
          </a:p>
        </p:txBody>
      </p:sp>
      <p:sp>
        <p:nvSpPr>
          <p:cNvPr id="9" name="Lesson number 3"/>
          <p:cNvSpPr txBox="1"/>
          <p:nvPr/>
        </p:nvSpPr>
        <p:spPr>
          <a:xfrm>
            <a:off x="548640" y="3840480"/>
            <a:ext cx="914400" cy="1005840"/>
          </a:xfrm>
          <a:prstGeom prst="rect">
            <a:avLst/>
          </a:prstGeom>
          <a:noFill/>
          <a:ln/>
        </p:spPr>
        <p:txBody>
          <a:bodyPr wrap="square" lIns="0" tIns="0" rIns="0" bIns="0" rtlCol="0" anchor="ctr"/>
          <a:lstStyle/>
          <a:p>
            <a:pPr indent="0" marL="0">
              <a:buNone/>
            </a:pPr>
            <a:r>
              <a:rPr lang="en-US" sz="5600" b="1" dirty="0">
                <a:solidFill>
                  <a:schemeClr val="accent1"/>
                </a:solidFill>
              </a:rPr>
              <a:t>3</a:t>
            </a:r>
            <a:endParaRPr lang="en-US" sz="5600" dirty="0"/>
          </a:p>
        </p:txBody>
      </p:sp>
      <p:sp>
        <p:nvSpPr>
          <p:cNvPr id="10" name="Lesson title 3"/>
          <p:cNvSpPr txBox="1"/>
          <p:nvPr/>
        </p:nvSpPr>
        <p:spPr>
          <a:xfrm>
            <a:off x="1600200" y="3858768"/>
            <a:ext cx="9966960" cy="502920"/>
          </a:xfrm>
          <a:prstGeom prst="rect">
            <a:avLst/>
          </a:prstGeom>
          <a:noFill/>
          <a:ln/>
        </p:spPr>
        <p:txBody>
          <a:bodyPr wrap="square" lIns="0" tIns="0" rIns="0" bIns="0" rtlCol="0" anchor="ctr"/>
          <a:lstStyle/>
          <a:p>
            <a:pPr indent="0" marL="0">
              <a:buNone/>
            </a:pPr>
            <a:r>
              <a:rPr lang="en-US" sz="2600" b="1" dirty="0">
                <a:solidFill>
                  <a:schemeClr val="tx1"/>
                </a:solidFill>
              </a:rPr>
              <a:t>Use code where the model is blind</a:t>
            </a:r>
            <a:endParaRPr lang="en-US" sz="2600" dirty="0"/>
          </a:p>
        </p:txBody>
      </p:sp>
      <p:sp>
        <p:nvSpPr>
          <p:cNvPr id="11" name="Lesson text 3"/>
          <p:cNvSpPr txBox="1"/>
          <p:nvPr/>
        </p:nvSpPr>
        <p:spPr>
          <a:xfrm>
            <a:off x="1600200" y="4389120"/>
            <a:ext cx="9966960" cy="411480"/>
          </a:xfrm>
          <a:prstGeom prst="rect">
            <a:avLst/>
          </a:prstGeom>
          <a:noFill/>
          <a:ln/>
        </p:spPr>
        <p:txBody>
          <a:bodyPr wrap="square" lIns="0" tIns="0" rIns="0" bIns="0" rtlCol="0" anchor="t"/>
          <a:lstStyle/>
          <a:p>
            <a:pPr indent="0" marL="0">
              <a:buNone/>
            </a:pPr>
            <a:r>
              <a:rPr lang="en-US" sz="1600" dirty="0">
                <a:solidFill>
                  <a:schemeClr val="tx2"/>
                </a:solidFill>
              </a:rPr>
              <a:t>Motion is measured; the model names what is moving.</a:t>
            </a:r>
            <a:endParaRPr lang="en-US" sz="1600" dirty="0"/>
          </a:p>
        </p:txBody>
      </p:sp>
      <p:sp>
        <p:nvSpPr>
          <p:cNvPr id="12" name="Closing panel"/>
          <p:cNvSpPr/>
          <p:nvPr/>
        </p:nvSpPr>
        <p:spPr>
          <a:xfrm>
            <a:off x="548640" y="5074920"/>
            <a:ext cx="11091672" cy="1097280"/>
          </a:xfrm>
          <a:prstGeom prst="roundRect">
            <a:avLst>
              <a:gd name="adj" fmla="val 10000"/>
            </a:avLst>
          </a:prstGeom>
          <a:solidFill>
            <a:schemeClr val="bg2"/>
          </a:solidFill>
          <a:ln w="12700">
            <a:solidFill>
              <a:schemeClr val="accent6"/>
            </a:solidFill>
            <a:prstDash val="solid"/>
          </a:ln>
        </p:spPr>
      </p:sp>
      <p:sp>
        <p:nvSpPr>
          <p:cNvPr id="13" name="Questions"/>
          <p:cNvSpPr txBox="1"/>
          <p:nvPr/>
        </p:nvSpPr>
        <p:spPr>
          <a:xfrm>
            <a:off x="868680" y="5166360"/>
            <a:ext cx="3840480" cy="914400"/>
          </a:xfrm>
          <a:prstGeom prst="rect">
            <a:avLst/>
          </a:prstGeom>
          <a:noFill/>
          <a:ln/>
        </p:spPr>
        <p:txBody>
          <a:bodyPr wrap="square" lIns="0" tIns="0" rIns="0" bIns="0" rtlCol="0" anchor="ctr"/>
          <a:lstStyle/>
          <a:p>
            <a:pPr indent="0" marL="0">
              <a:buNone/>
            </a:pPr>
            <a:r>
              <a:rPr lang="en-US" sz="4000" b="1" dirty="0">
                <a:solidFill>
                  <a:schemeClr val="accent1"/>
                </a:solidFill>
              </a:rPr>
              <a:t>Questions?</a:t>
            </a:r>
            <a:endParaRPr lang="en-US" sz="4000" dirty="0"/>
          </a:p>
        </p:txBody>
      </p:sp>
      <p:sp>
        <p:nvSpPr>
          <p:cNvPr id="14" name="Closing line"/>
          <p:cNvSpPr txBox="1"/>
          <p:nvPr/>
        </p:nvSpPr>
        <p:spPr>
          <a:xfrm>
            <a:off x="4480560" y="5166360"/>
            <a:ext cx="6949440" cy="914400"/>
          </a:xfrm>
          <a:prstGeom prst="rect">
            <a:avLst/>
          </a:prstGeom>
          <a:noFill/>
          <a:ln/>
        </p:spPr>
        <p:txBody>
          <a:bodyPr wrap="square" lIns="0" tIns="0" rIns="0" bIns="0" rtlCol="0" anchor="ctr"/>
          <a:lstStyle/>
          <a:p>
            <a:pPr indent="0" marL="0">
              <a:buNone/>
            </a:pPr>
            <a:r>
              <a:rPr lang="en-US" sz="1800" dirty="0">
                <a:solidFill>
                  <a:schemeClr val="tx1"/>
                </a:solidFill>
              </a:rPr>
              <a:t>Code, benchmarks and design notes: github.com/vashistavarma/lensmate</a:t>
            </a:r>
            <a:endParaRPr lang="en-US" sz="1800" dirty="0"/>
          </a:p>
        </p:txBody>
      </p:sp>
      <p:sp>
        <p:nvSpPr>
          <p:cNvPr id="25" name="Slide Number Placeholder 0"/>
          <p:cNvSpPr>
            <a:spLocks noGrp="1"/>
          </p:cNvSpPr>
          <p:nvPr>
            <p:ph type="sldNum" sz="quarter" idx="4294967295"/>
          </p:nvPr>
        </p:nvSpPr>
        <p:spPr>
          <a:xfrm>
            <a:off x="11064240" y="6400800"/>
            <a:ext cx="576072"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8B93A1"/>
                </a:solidFill>
              </a:defRPr>
            </a:lvl1pPr>
          </a:lstStyle>
          <a:p>
            <a:pPr algn="l"/>
            <a:fld id="{F7021451-1387-4CA6-816F-3879F97B5CBC}" type="slidenum">
              <a:rPr b="0" lang="en-US"/>
              <a:t>9</a:t>
            </a:fld>
            <a:endParaRPr lang="en-US"/>
          </a:p>
        </p:txBody>
      </p:sp>
    </p:spTree>
  </p:cSld>
  <p:clrMapOvr>
    <a:masterClrMapping/>
  </p:clrMapOvr>
</p:sld>
</file>

<file path=ppt/theme/theme1.xml><?xml version="1.0" encoding="utf-8"?>
<a:theme xmlns:a="http://schemas.openxmlformats.org/drawingml/2006/main" name="LensMate Dark">
  <a:themeElements>
    <a:clrScheme name="LensMate Dark">
      <a:dk1>
        <a:srgbClr val="E6E9EF"/>
      </a:dk1>
      <a:lt1>
        <a:srgbClr val="0E1116"/>
      </a:lt1>
      <a:dk2>
        <a:srgbClr val="8B93A1"/>
      </a:dk2>
      <a:lt2>
        <a:srgbClr val="171B22"/>
      </a:lt2>
      <a:accent1>
        <a:srgbClr val="4FD1C5"/>
      </a:accent1>
      <a:accent2>
        <a:srgbClr val="F6AD55"/>
      </a:accent2>
      <a:accent3>
        <a:srgbClr val="68D391"/>
      </a:accent3>
      <a:accent4>
        <a:srgbClr val="63B3ED"/>
      </a:accent4>
      <a:accent5>
        <a:srgbClr val="F56565"/>
      </a:accent5>
      <a:accent6>
        <a:srgbClr val="2D3440"/>
      </a:accent6>
      <a:hlink>
        <a:srgbClr val="4FD1C5"/>
      </a:hlink>
      <a:folHlink>
        <a:srgbClr val="8B93A1"/>
      </a:folHlink>
    </a:clrScheme>
    <a:fontScheme name="LensMate Dark">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9</Slides>
  <Notes>9</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9</vt:i4>
      </vt:variant>
    </vt:vector>
  </HeadingPairs>
  <TitlesOfParts>
    <vt:vector size="12"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LensMate: a mixed-reality chatbot that runs on a laptop</dc:title>
  <dc:subject>PptxGenJS Presentation</dc:subject>
  <dc:creator>LensMate</dc:creator>
  <cp:lastModifiedBy>LensMate</cp:lastModifiedBy>
  <cp:revision>1</cp:revision>
  <dcterms:created xsi:type="dcterms:W3CDTF">2026-10-29T09:50:33Z</dcterms:created>
  <dcterms:modified xsi:type="dcterms:W3CDTF">2026-10-29T09:50:33Z</dcterms:modified>
</cp:coreProperties>
</file>